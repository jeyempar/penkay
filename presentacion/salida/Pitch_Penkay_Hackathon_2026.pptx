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79a25b2414f79" /><Relationship Type="http://schemas.openxmlformats.org/officeDocument/2006/relationships/extended-properties" Target="/docProps/app.xml" Id="Rcce3db62fd5d4e6e" /><Relationship Type="http://schemas.openxmlformats.org/officeDocument/2006/relationships/officeDocument" Target="/ppt/presentation.xml" Id="R931b3a54fd81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24ff1b240d4241"/>
  </p:sldMasterIdLst>
  <p:notesMasterIdLst>
    <p:notesMasterId xmlns:r="http://schemas.openxmlformats.org/officeDocument/2006/relationships" r:id="R31795480d0514e0f"/>
  </p:notesMasterIdLst>
  <p:sldIdLst>
    <p:sldId xmlns:r="http://schemas.openxmlformats.org/officeDocument/2006/relationships" id="256" r:id="Rae597d78cb934b8f"/>
    <p:sldId xmlns:r="http://schemas.openxmlformats.org/officeDocument/2006/relationships" id="257" r:id="Ra6cd884a58c04cdb"/>
    <p:sldId xmlns:r="http://schemas.openxmlformats.org/officeDocument/2006/relationships" id="258" r:id="R29c48a51ef634fe2"/>
    <p:sldId xmlns:r="http://schemas.openxmlformats.org/officeDocument/2006/relationships" id="259" r:id="R8b276775a03c47e6"/>
    <p:sldId xmlns:r="http://schemas.openxmlformats.org/officeDocument/2006/relationships" id="260" r:id="R9b890686b2664e33"/>
    <p:sldId xmlns:r="http://schemas.openxmlformats.org/officeDocument/2006/relationships" id="261" r:id="R33449f5ac92a43d9"/>
    <p:sldId xmlns:r="http://schemas.openxmlformats.org/officeDocument/2006/relationships" id="262" r:id="Rbbf6121990f240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d3cb015dec4360" /><Relationship Type="http://schemas.openxmlformats.org/officeDocument/2006/relationships/slideMaster" Target="/ppt/slideMasters/slideMaster1.xml" Id="Rb224ff1b240d4241" /><Relationship Type="http://schemas.openxmlformats.org/officeDocument/2006/relationships/notesMaster" Target="/ppt/notesMasters/notesMaster1.xml" Id="R31795480d0514e0f" /><Relationship Type="http://schemas.openxmlformats.org/officeDocument/2006/relationships/presProps" Target="/ppt/presProps.xml" Id="R274a4e361b20491e" /><Relationship Type="http://schemas.openxmlformats.org/officeDocument/2006/relationships/viewProps" Target="/ppt/viewProps.xml" Id="Rd164a5e6ff504733" /><Relationship Type="http://schemas.openxmlformats.org/officeDocument/2006/relationships/tableStyles" Target="/ppt/tableStyles.xml" Id="Rc2fce8ca3cb04dda" /><Relationship Type="http://schemas.openxmlformats.org/officeDocument/2006/relationships/slide" Target="/ppt/slides/slide1.xml" Id="Rae597d78cb934b8f" /><Relationship Type="http://schemas.openxmlformats.org/officeDocument/2006/relationships/slide" Target="/ppt/slides/slide2.xml" Id="Ra6cd884a58c04cdb" /><Relationship Type="http://schemas.openxmlformats.org/officeDocument/2006/relationships/slide" Target="/ppt/slides/slide3.xml" Id="R29c48a51ef634fe2" /><Relationship Type="http://schemas.openxmlformats.org/officeDocument/2006/relationships/slide" Target="/ppt/slides/slide4.xml" Id="R8b276775a03c47e6" /><Relationship Type="http://schemas.openxmlformats.org/officeDocument/2006/relationships/slide" Target="/ppt/slides/slide5.xml" Id="R9b890686b2664e33" /><Relationship Type="http://schemas.openxmlformats.org/officeDocument/2006/relationships/slide" Target="/ppt/slides/slide6.xml" Id="R33449f5ac92a43d9" /><Relationship Type="http://schemas.openxmlformats.org/officeDocument/2006/relationships/slide" Target="/ppt/slides/slide7.xml" Id="Rbbf6121990f240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3b06723d70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0123a687a4c30" /><Relationship Type="http://schemas.openxmlformats.org/officeDocument/2006/relationships/notesMaster" Target="/ppt/notesMasters/notesMaster1.xml" Id="Re2b063ceeada4a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f98c6342e470d" /><Relationship Type="http://schemas.openxmlformats.org/officeDocument/2006/relationships/notesMaster" Target="/ppt/notesMasters/notesMaster1.xml" Id="Ra0ab905e502a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575ff63bae472f" /><Relationship Type="http://schemas.openxmlformats.org/officeDocument/2006/relationships/notesMaster" Target="/ppt/notesMasters/notesMaster1.xml" Id="Rf19c76173aa247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296ce5b5974b1d" /><Relationship Type="http://schemas.openxmlformats.org/officeDocument/2006/relationships/notesMaster" Target="/ppt/notesMasters/notesMaster1.xml" Id="R51150afe2dd743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0586f8cc84a6b" /><Relationship Type="http://schemas.openxmlformats.org/officeDocument/2006/relationships/notesMaster" Target="/ppt/notesMasters/notesMaster1.xml" Id="R7383900564bd40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6eef22013b4e97" /><Relationship Type="http://schemas.openxmlformats.org/officeDocument/2006/relationships/notesMaster" Target="/ppt/notesMasters/notesMaster1.xml" Id="Rd31ee094125944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7cfc7f64484ce0" /><Relationship Type="http://schemas.openxmlformats.org/officeDocument/2006/relationships/notesMaster" Target="/ppt/notesMasters/notesMaster1.xml" Id="Rae01d23d350a40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Proyecto: Penkay, equipo Terra Aventure, Reto 2 Pencos del Norte.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FUNCIONALIDAD_MVP.md, ARQUITECTURA_MVP.md y documentos del hackathon suministrados en la carpeta de materiales.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visual de portada fue generado como ilustración conceptual y no documenta una visita de campo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1-Diagnóstico y líneas de base.docx.</a:t>
            </a:r>
          </a:p>
          <a:p xmlns:a="http://schemas.openxmlformats.org/drawingml/2006/main">
            <a:r>
              <a:t>El documento propone diferenciar mediciones locales, estimaciones y referencias externas.</a:t>
            </a:r>
          </a:p>
          <a:p xmlns:a="http://schemas.openxmlformats.org/drawingml/2006/main">
            <a:r>
              <a:t>La resolución de 10 m de Sentinel-2 y la necesidad de calibración con dron y campo constan en el diagnóstico suministrado.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FUNCIONALIDAD_MVP.md y ARQUITECTURA_MVP.md.</a:t>
            </a:r>
          </a:p>
          <a:p xmlns:a="http://schemas.openxmlformats.org/drawingml/2006/main">
            <a:r>
              <a:t>Stack actual: React 19, TypeScript, Vinext, Vite 8, Tailwind CSS 4, Shadcn/Base UI y Cloudflare Workers como runtime objetivo.</a:t>
            </a:r>
          </a:p>
          <a:p xmlns:a="http://schemas.openxmlformats.org/drawingml/2006/main">
            <a:r>
              <a:t>La integración nativa con Sentinel, almacenamiento, autenticación y YOLO se presenta como arquitectura objetivo, no como funcionalidad productiva ya desplegada.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6-Estimación de costos.docx, tablas de recursos humanos, presupuesto total y OPEX.</a:t>
            </a:r>
          </a:p>
          <a:p xmlns:a="http://schemas.openxmlformats.org/drawingml/2006/main">
            <a:r>
              <a:t>El presupuesto total de USD 4.449,50 incluye USD 4.045,00 de implementación y una contingencia del 10 por ciento.</a:t>
            </a:r>
          </a:p>
          <a:p xmlns:a="http://schemas.openxmlformats.org/drawingml/2006/main">
            <a:r>
              <a:t>Las dos imágenes son visuales conceptuales generados para explicar el modelo operativo. No registran eventos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6-Estimación de costos.docx, cronograma físico financiero de seis semanas.</a:t>
            </a:r>
          </a:p>
          <a:p xmlns:a="http://schemas.openxmlformats.org/drawingml/2006/main">
            <a:r>
              <a:t>Costo acumulado antes de contingencia: USD 600 en la semana 1, USD 1.250 en la semana 2, USD 2.050 en la semana 3, USD 2.950 en la semana 4, USD 3.650 en la semana 5 y USD 4.045 en la semana 6.</a:t>
            </a:r>
          </a:p>
          <a:p xmlns:a="http://schemas.openxmlformats.org/drawingml/2006/main">
            <a:r>
              <a:t>El documento de costos excluye la detección automática con YOLO del presupuesto inicial. La presenta como fase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1-Diagnóstico y líneas de base.docx y 6-Estimación de costos.docx, tabla de indicadores de desempeño.</a:t>
            </a:r>
          </a:p>
          <a:p xmlns:a="http://schemas.openxmlformats.org/drawingml/2006/main">
            <a:r>
              <a:t>Metas piloto: al menos 10 productores y parcelas, al menos 100 plantas, al menos 200 fotografías georreferenciadas, 100 por ciento de reportes con hash y disponibilidad mínima de 95 por ciento.</a:t>
            </a:r>
          </a:p>
          <a:p xmlns:a="http://schemas.openxmlformats.org/drawingml/2006/main">
            <a:r>
              <a:t>Los valores de carbono de literatura funcionan como referencia. El proyecto debe calibrarlos por especie, edad, clima, manejo y destino de la biomasa.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propuesto a partir de la arquitectura objetivo y las metas piloto documentadas.</a:t>
            </a:r>
          </a:p>
          <a:p xmlns:a="http://schemas.openxmlformats.org/drawingml/2006/main">
            <a:r>
              <a:t>La prioridad posterior al prototipo consiste en implementar autenticación, persistencia, almacenamiento de evidencias, mapas reales y auditoría.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be2b889ba44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7d6fd903e45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8d784f8634b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053e6787046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09fa5029f43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8a4c1756644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e4d36beb549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8533bf18441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db5ff2a054a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ea8ff3d1f4a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5133c12dd4bb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084c7bd87403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82AA99-8A43-40A4-9670-7533B0C564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AB5A8D-0B5E-4105-B658-D7D1A59085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D881CA-15B7-4FDA-BCF4-BD1484DC9E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E74430-60F2-4B5A-9D61-768253FDDE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F93FF7-7C68-4633-B7CD-312BA49AD0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866949-984D-49D2-B6F1-3E604DA7F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17C4C4-4643-4CC6-A86C-2FC4F3289E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03AB77-F357-4549-A749-95464180D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8A9DA5-0C9A-48D3-972A-004253A26E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CC3C17-00E2-48D9-BE82-7C3E470A39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EA739C-7778-4CE8-8352-A81DA6548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183215-2913-42DF-8A6F-4FFD92BD24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54CD9A-C578-404D-9630-C2B8C34208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76C0A9-80C1-448D-ACB8-8438C8CA2E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288FBE-8554-4B3D-B389-FE50E8259C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7817B9-14A2-4E06-AEB7-6F7E0FE41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2A4536-CD2B-446B-9C05-DBDB87580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8A642-F552-4F17-91FB-FE90D3E39A3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7C5FAB-6C94-4211-98F1-B496B3E0B6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AD94D5-7AAD-4110-B94F-59284AF2B4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BC08AE-D56F-4E34-9D81-3CBE195F88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D6C2AB-F8C7-45B4-ABC6-25241A4AAA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C468D1-982B-4C95-96BA-7DF0EEE858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C1F506E-DF9B-410C-AE5A-B3ADE89D10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345FCF6-4083-4001-8431-5A76D188E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898EF6F-FA90-4F84-8F96-83F10F338B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0588B3-D704-4D7A-AC78-79668ABFCB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5C2194-F554-4D86-AE6E-63CA688CC8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9D7B64D-5A79-4ACF-8099-A80AE12D71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81ADA5-C621-41E1-A246-3FB765BF1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72C7D75-2963-4288-A444-10DAC7AA3E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3781615-6731-46DA-9F2F-4F041B06F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C469CDA-D34F-4CB7-9648-CF4F65E20B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BF27BB-D6D1-4D8B-952C-5731F4596D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BC25DD-EAF3-487F-AF22-500978DFC8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1F22BB2-9961-46FE-A57B-5F72E21D5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804B4E-C183-4748-928E-98464C474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931DBF-B687-48E8-B279-D4ACF86BB3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AD291AB-7D20-452B-8560-06AF8BD73C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7803C4-F3B1-4692-BB78-178035412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1EBAB0-C9C9-4098-ABE1-38AC414D99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DAC33FD-CA34-49D1-98B1-3622C1D80A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F89539-8850-425E-B73B-92B8A29E7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34E4AE3-4566-409A-8E5F-D526696FA1B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49D5B0-F6A6-45B6-A66E-B858209B73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DB80D7-97BA-4BA2-8BC4-8A3FC1A386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7833258-0AF8-4B6A-B851-289B8DECAF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FF95EB4-A4DF-4ED8-84F2-CA415E7362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9EEDF1-5606-4700-9B0E-6D254039C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FBE69F-0B45-4303-B969-230EFD8EC7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8FCA69-737A-4AAB-9789-9B761CDE9B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426DAD-6F40-4BA8-8512-C7E2A5179D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41AA0A-38D9-427D-B97D-7137665725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ABB83B4-59E4-4B3D-B721-4C5F671FC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7577F1-A7AE-46A6-A8FD-3BE368F82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94D447-672C-4487-89A9-F8AA352DF1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AB3231-621E-4D95-BAE1-130C2B073C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16B831-FEDF-4C84-8B6A-65DCAE583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and body">
  <p:cSld name="Title and body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FBEBED37-0774-419A-8BE3-BA01E178A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800" cy="76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3E494A"/>
              </a:buClr>
              <a:buSzPts val="2800"/>
              <a:buFont typeface="Barlow SemiBold"/>
              <a:buNone/>
              <a:defRPr>
                <a:solidFill>
                  <a:srgbClr val="3E494A"/>
                </a:solidFill>
                <a:latin typeface="Barlow SemiBold"/>
                <a:ea typeface="Barlow SemiBold"/>
                <a:cs typeface="Barlow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EF9801CD-5A2C-4FF4-90A9-331065423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8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609585" indent="-457189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8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1pPr>
            <a:lvl2pPr marL="1219170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2pPr>
            <a:lvl3pPr marL="1828754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3pPr>
            <a:lvl4pPr marL="2438339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4pPr>
            <a:lvl5pPr marL="3047924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5pPr>
            <a:lvl6pPr marL="3657509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6pPr>
            <a:lvl7pPr marL="4267093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7pPr>
            <a:lvl8pPr marL="4876678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8pPr>
            <a:lvl9pPr marL="5486263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C45942DF-57C1-48DA-8F27-B7A7BF0E7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1" y="6217623"/>
            <a:ext cx="731600" cy="52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3bceb6ff694c41" /><Relationship Type="http://schemas.openxmlformats.org/officeDocument/2006/relationships/slideLayout" Target="/ppt/slideLayouts/slideLayout1.xml" Id="R401f9454d2894748" /><Relationship Type="http://schemas.openxmlformats.org/officeDocument/2006/relationships/slideLayout" Target="/ppt/slideLayouts/slideLayout2.xml" Id="R36ee204bd3904583" /><Relationship Type="http://schemas.openxmlformats.org/officeDocument/2006/relationships/slideLayout" Target="/ppt/slideLayouts/slideLayout3.xml" Id="R790d921385104fbe" /><Relationship Type="http://schemas.openxmlformats.org/officeDocument/2006/relationships/slideLayout" Target="/ppt/slideLayouts/slideLayout4.xml" Id="Rad3e143574e14436" /><Relationship Type="http://schemas.openxmlformats.org/officeDocument/2006/relationships/slideLayout" Target="/ppt/slideLayouts/slideLayout5.xml" Id="R8f67d42560054603" /><Relationship Type="http://schemas.openxmlformats.org/officeDocument/2006/relationships/slideLayout" Target="/ppt/slideLayouts/slideLayout6.xml" Id="R3b4a175474b8485f" /><Relationship Type="http://schemas.openxmlformats.org/officeDocument/2006/relationships/slideLayout" Target="/ppt/slideLayouts/slideLayout7.xml" Id="Rdc603a1199c44e89" /><Relationship Type="http://schemas.openxmlformats.org/officeDocument/2006/relationships/slideLayout" Target="/ppt/slideLayouts/slideLayout8.xml" Id="Rc045bbc8db764a07" /><Relationship Type="http://schemas.openxmlformats.org/officeDocument/2006/relationships/slideLayout" Target="/ppt/slideLayouts/slideLayout9.xml" Id="R1d0dd43c7bdc4e02" /><Relationship Type="http://schemas.openxmlformats.org/officeDocument/2006/relationships/slideLayout" Target="/ppt/slideLayouts/slideLayout10.xml" Id="R78a03adf794f43b4" /><Relationship Type="http://schemas.openxmlformats.org/officeDocument/2006/relationships/slideLayout" Target="/ppt/slideLayouts/slideLayout11.xml" Id="Rfa511aa7f7084627" /><Relationship Type="http://schemas.openxmlformats.org/officeDocument/2006/relationships/slideLayout" Target="/ppt/slideLayouts/slideLayout12.xml" Id="R551dd6661b9646d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AA6653-A7D7-410A-9A4B-8BF9A562E0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E20F00-6312-41AF-8DE8-0BF754722A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217958-A37C-4FDC-B377-B1D1488085F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036841-3CE4-4176-B5B9-B2196DB930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18EF45-FF5D-4884-9926-43700DA955A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f9454d2894748"/>
    <p:sldLayoutId xmlns:r="http://schemas.openxmlformats.org/officeDocument/2006/relationships" id="2147483650" r:id="R36ee204bd3904583"/>
    <p:sldLayoutId xmlns:r="http://schemas.openxmlformats.org/officeDocument/2006/relationships" id="2147483651" r:id="R790d921385104fbe"/>
    <p:sldLayoutId xmlns:r="http://schemas.openxmlformats.org/officeDocument/2006/relationships" id="2147483652" r:id="Rad3e143574e14436"/>
    <p:sldLayoutId xmlns:r="http://schemas.openxmlformats.org/officeDocument/2006/relationships" id="2147483653" r:id="R8f67d42560054603"/>
    <p:sldLayoutId xmlns:r="http://schemas.openxmlformats.org/officeDocument/2006/relationships" id="2147483654" r:id="R3b4a175474b8485f"/>
    <p:sldLayoutId xmlns:r="http://schemas.openxmlformats.org/officeDocument/2006/relationships" id="2147483655" r:id="Rdc603a1199c44e89"/>
    <p:sldLayoutId xmlns:r="http://schemas.openxmlformats.org/officeDocument/2006/relationships" id="2147483656" r:id="Rc045bbc8db764a07"/>
    <p:sldLayoutId xmlns:r="http://schemas.openxmlformats.org/officeDocument/2006/relationships" id="2147483657" r:id="R1d0dd43c7bdc4e02"/>
    <p:sldLayoutId xmlns:r="http://schemas.openxmlformats.org/officeDocument/2006/relationships" id="2147483658" r:id="R78a03adf794f43b4"/>
    <p:sldLayoutId xmlns:r="http://schemas.openxmlformats.org/officeDocument/2006/relationships" id="2147483659" r:id="Rfa511aa7f7084627"/>
    <p:sldLayoutId xmlns:r="http://schemas.openxmlformats.org/officeDocument/2006/relationships" id="2147483660" r:id="R551dd6661b9646d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3f72f0b19d49e8" /><Relationship Type="http://schemas.openxmlformats.org/officeDocument/2006/relationships/image" Target="/ppt/media/image.jpeg" Id="R60bbefb0fc544776" /><Relationship Type="http://schemas.openxmlformats.org/officeDocument/2006/relationships/image" Target="/ppt/media/image.png" Id="R4de2f385e51e4085" /><Relationship Type="http://schemas.openxmlformats.org/officeDocument/2006/relationships/image" Target="/ppt/media/image2.png" Id="R6b4f42e80ba34445" /><Relationship Type="http://schemas.openxmlformats.org/officeDocument/2006/relationships/notesSlide" Target="/ppt/notesSlides/notesSlide1.xml" Id="Rc6ee4ffb25f5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93b1461cfa447d" /><Relationship Type="http://schemas.openxmlformats.org/officeDocument/2006/relationships/image" Target="/ppt/media/image3.png" Id="R269d96e5bba648bd" /><Relationship Type="http://schemas.openxmlformats.org/officeDocument/2006/relationships/notesSlide" Target="/ppt/notesSlides/notesSlide2.xml" Id="R5bbbb9ac509a4d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580a45760c4f91" /><Relationship Type="http://schemas.openxmlformats.org/officeDocument/2006/relationships/image" Target="/ppt/media/image4.png" Id="Rb010d81bb2b14315" /><Relationship Type="http://schemas.openxmlformats.org/officeDocument/2006/relationships/notesSlide" Target="/ppt/notesSlides/notesSlide3.xml" Id="Rc3e6b1eaa9e249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0151c790d94e4e" /><Relationship Type="http://schemas.openxmlformats.org/officeDocument/2006/relationships/image" Target="/ppt/media/image5.png" Id="Raab5073eea1d4d29" /><Relationship Type="http://schemas.openxmlformats.org/officeDocument/2006/relationships/image" Target="/ppt/media/image6.png" Id="R9e5ad423d04847c1" /><Relationship Type="http://schemas.openxmlformats.org/officeDocument/2006/relationships/notesSlide" Target="/ppt/notesSlides/notesSlide4.xml" Id="Raddcd5afe0ca40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068ac3b0274691" /><Relationship Type="http://schemas.openxmlformats.org/officeDocument/2006/relationships/image" Target="/ppt/media/image7.png" Id="R8f828f686a36415a" /><Relationship Type="http://schemas.openxmlformats.org/officeDocument/2006/relationships/notesSlide" Target="/ppt/notesSlides/notesSlide5.xml" Id="R5b9cb799316f49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d4125cd48d4f1e" /><Relationship Type="http://schemas.openxmlformats.org/officeDocument/2006/relationships/image" Target="/ppt/media/image8.png" Id="Rdea90a185ff3437b" /><Relationship Type="http://schemas.openxmlformats.org/officeDocument/2006/relationships/notesSlide" Target="/ppt/notesSlides/notesSlide6.xml" Id="Reaba04f3bce949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ec66a1f5df42f4" /><Relationship Type="http://schemas.openxmlformats.org/officeDocument/2006/relationships/image" Target="/ppt/media/image9.png" Id="Rf665b32ef75a4e76" /><Relationship Type="http://schemas.openxmlformats.org/officeDocument/2006/relationships/notesSlide" Target="/ppt/notesSlides/notesSlide7.xml" Id="R647a8adccba148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6428440D-B334-4FFD-8F4B-99A10EFD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7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5F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04C9C25F-CFF4-4883-B806-1F10A0B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200" y="0"/>
            <a:ext cx="92908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609585" indent="-423323" algn="ctr">
              <a:buSzPts val="1400"/>
              <a:buChar char="●"/>
            </a:pPr>
            <a:endParaRPr sz="2400"/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6EA03A30-D619-442B-99CD-15ECB2509D3F}"/>
              </a:ext>
            </a:extLst>
          </p:cNvPr>
          <p:cNvSpPr>
            <a:spLocks xmlns:a="http://schemas.openxmlformats.org/drawingml/2006/main" noGrp="1"/>
          </p:cNvSpPr>
          <p:nvPr>
            <p:ph type="ctrTitle" idx="4294967295"/>
          </p:nvPr>
        </p:nvSpPr>
        <p:spPr>
          <a:xfrm xmlns:a="http://schemas.openxmlformats.org/drawingml/2006/main">
            <a:off x="3352800" y="1381125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buNone/>
              <a:defRPr sz="4950" b="1">
                <a:solidFill>
                  <a:srgbClr val="173D2A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173D2A"/>
                </a:solidFill>
                <a:latin typeface="Aptos Display"/>
                <a:ea typeface="Aptos Display"/>
                <a:cs typeface="Aptos Display"/>
              </a:rPr>
              <a:t>PENKAY</a:t>
            </a:r>
            <a:endParaRPr sz="6000" b="1">
              <a:latin typeface="Barlow"/>
              <a:ea typeface="Barlow"/>
              <a:cs typeface="Barlow"/>
            </a:endParaRPr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76DEBFCA-A451-4366-A18E-B3938AED3DA5}"/>
              </a:ext>
            </a:extLst>
          </p:cNvPr>
          <p:cNvSpPr>
            <a:spLocks xmlns:a="http://schemas.openxmlformats.org/drawingml/2006/main" noGrp="1"/>
          </p:cNvSpPr>
          <p:nvPr>
            <p:ph type="ctrTitle" idx="4294967295"/>
          </p:nvPr>
        </p:nvSpPr>
        <p:spPr>
          <a:xfrm xmlns:a="http://schemas.openxmlformats.org/drawingml/2006/main">
            <a:off x="3381375" y="2333625"/>
            <a:ext cx="48577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69329" algn="l">
              <a:buClr>
                <a:srgbClr val="1F5D5F"/>
              </a:buClr>
              <a:buSzPts val="1600"/>
              <a:buNone/>
              <a:defRPr sz="1800" b="1">
                <a:solidFill>
                  <a:srgbClr val="173D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D2A"/>
                </a:solidFill>
                <a:latin typeface="Aptos"/>
                <a:ea typeface="Aptos"/>
                <a:cs typeface="Aptos"/>
              </a:rPr>
              <a:t>Medición del impacto ambiental del penco andino</a:t>
            </a:r>
            <a:endParaRPr sz="2133" b="1">
              <a:solidFill>
                <a:srgbClr val="1F5D5F"/>
              </a:solidFill>
              <a:latin typeface="Barlow"/>
              <a:ea typeface="Barlow"/>
              <a:cs typeface="Barlow"/>
            </a:endParaRPr>
          </a:p>
          <a:p xmlns:a="http://schemas.openxmlformats.org/drawingml/2006/main">
            <a:pPr marL="609585" algn="l">
              <a:spcBef>
                <a:spcPts val="0"/>
              </a:spcBef>
              <a:buNone/>
            </a:pPr>
            <a:r>
              <a:t/>
            </a:r>
            <a:endParaRPr sz="3467" b="1">
              <a:solidFill>
                <a:srgbClr val="1F5D5F"/>
              </a:solidFill>
              <a:latin typeface="Barlow"/>
              <a:ea typeface="Barlow"/>
              <a:cs typeface="Barlow"/>
            </a:endParaRPr>
          </a:p>
          <a:p xmlns:a="http://schemas.openxmlformats.org/drawingml/2006/main">
            <a:pPr marL="609585" indent="-524920" algn="l">
              <a:spcBef>
                <a:spcPts val="0"/>
              </a:spcBef>
              <a:buClr>
                <a:srgbClr val="1D7E75"/>
              </a:buClr>
              <a:buSzPts val="2600"/>
              <a:buFont typeface="Barlow"/>
              <a:buChar char="●"/>
              <a:defRPr sz="1800" b="1">
                <a:solidFill>
                  <a:srgbClr val="173D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D2A"/>
                </a:solidFill>
                <a:latin typeface="Aptos"/>
                <a:ea typeface="Aptos"/>
                <a:cs typeface="Aptos"/>
              </a:rPr>
              <a:t>TERRA AVENTURE</a:t>
            </a:r>
            <a:endParaRPr sz="3467" b="1">
              <a:solidFill>
                <a:srgbClr val="1F5D5F"/>
              </a:solidFill>
              <a:latin typeface="Barlow"/>
              <a:ea typeface="Barlow"/>
              <a:cs typeface="Barlow"/>
            </a:endParaRPr>
          </a:p>
          <a:p xmlns:a="http://schemas.openxmlformats.org/drawingml/2006/main">
            <a:pPr marL="609585" indent="-524920" algn="l">
              <a:spcBef>
                <a:spcPts val="0"/>
              </a:spcBef>
              <a:buClr>
                <a:srgbClr val="1D7E75"/>
              </a:buClr>
              <a:buSzPts val="2600"/>
              <a:buFont typeface="Barlow"/>
              <a:buChar char="●"/>
              <a:defRPr sz="1800" b="1">
                <a:solidFill>
                  <a:srgbClr val="173D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D2A"/>
                </a:solidFill>
                <a:latin typeface="Aptos"/>
                <a:ea typeface="Aptos"/>
                <a:cs typeface="Aptos"/>
              </a:rPr>
              <a:t>Reto 2 · Pencos del Norte</a:t>
            </a:r>
            <a:endParaRPr sz="3467" b="1">
              <a:solidFill>
                <a:srgbClr val="1F5D5F"/>
              </a:solidFill>
              <a:latin typeface="Barlow"/>
              <a:ea typeface="Barlow"/>
              <a:cs typeface="Barlow"/>
            </a:endParaRPr>
          </a:p>
        </p:txBody>
      </p:sp>
      <p:pic>
        <p:nvPicPr>
          <p:cNvPr id="70" name="Google Shape;6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befb0fc54477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6800" y="5966133"/>
            <a:ext cx="3339221" cy="6920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24A62268-FCC9-49A0-BA27-ACFD5E67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0" y="5864533"/>
            <a:ext cx="2130800" cy="4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Clr>
                <a:schemeClr val="dk1"/>
              </a:buClr>
              <a:buSzPts val="1100"/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P. Code: 101179307</a:t>
            </a:r>
            <a:endParaRPr sz="1600" b="1">
              <a:solidFill>
                <a:schemeClr val="lt1"/>
              </a:solidFill>
              <a:latin typeface="Barlow"/>
              <a:ea typeface="Barlow"/>
              <a:cs typeface="Barlow"/>
            </a:endParaRPr>
          </a:p>
        </p:txBody>
      </p:sp>
      <p:cxnSp>
        <p:nvCxnSpPr>
          <p:cNvPr id="72" name="Google Shape;62;p13"/>
          <p:cNvCxnSpPr/>
          <p:nvPr/>
        </p:nvCxnSpPr>
        <p:spPr>
          <a:xfrm xmlns:a="http://schemas.openxmlformats.org/drawingml/2006/main" rot="10800000" flipH="1">
            <a:off x="4785800" y="3417400"/>
            <a:ext cx="5443200" cy="23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F5D5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" name="Google Shape;6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2f385e51e408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884" y="1708002"/>
            <a:ext cx="1821835" cy="3441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f42e80ba34445"/>
          <a:srcRect xmlns:a="http://schemas.openxmlformats.org/drawingml/2006/main" l="5004" t="0" r="5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1315" y="0"/>
            <a:ext cx="9290685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07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7235639-288E-4F2B-9821-11731CF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DBD2E0B-3F20-4585-BDC7-A43A1D8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A499DAB-CEB0-4056-A8D3-F4CF754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50CD21F-4759-44EF-AB57-57EE7F4D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EFC8C8-EA41-43AA-8660-FC7C6091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3620AE-51FB-4B97-A229-2814995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EL PROBLEMA</a:t>
            </a:r>
          </a:p>
        </p:txBody>
      </p:sp>
      <p:sp>
        <p:nvSpPr>
          <p:cNvPr id="28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E85391-FD12-A2BD-640B-DB395D1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Sin una línea base por parcela, el impacto ambiental no se puede demostrar</a:t>
            </a:r>
            <a:endParaRPr sz="1100" b="0" i="0">
              <a:solidFill>
                <a:srgbClr val="646E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391BB-8851-4228-AF31-5496B998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71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73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444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94446"/>
                </a:solidFill>
                <a:latin typeface="Aptos Display"/>
                <a:ea typeface="Aptos Display"/>
                <a:cs typeface="Aptos Display"/>
              </a:rPr>
              <a:t>El cultivo avanza durante años sin señales frecuentes y comparables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02ACBB-1511-4F27-B600-6D8D35D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1A2B0-8AC2-4572-B9A3-7024852D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Ciclo productivo prolongado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610303-34B9-4F67-B9C2-51A3F266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El desarrollo previo a la cosecha toma entre 4 y 6 años. Los productores necesitan evidencia de avance durante ese periodo.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6ACE56-17EC-4D32-9318-ED1DBCA4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D717B-E9EA-42C7-A533-F4153932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Carbono y suelo sin línea 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001A64-7A60-4384-8689-11FCCBE9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Hoy faltan series históricas por parcela sobre biomasa, carbono orgánico del suelo, humedad y erosión.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70A00A-FF12-4630-91E4-104F422F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DD9BC6-0076-4CA1-947C-A19CC767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Escala de observación incompleta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5E49A8-1838-437A-9EE1-12658A3E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Sentinel-2 permite evaluar cobertura y vigor a 10 m, pero las plantas pequeñas requieren validación con dron y registros de campo.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d96e5bba648bd"/>
          <a:stretch xmlns:a="http://schemas.openxmlformats.org/drawingml/2006/main"/>
        </p:blipFill>
        <p:spPr>
          <a:xfrm xmlns:a="http://schemas.openxmlformats.org/drawingml/2006/main">
            <a:off x="8191500" y="2286000"/>
            <a:ext cx="3286125" cy="3286125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2588E4-FBB3-444F-A0DC-3EFAE174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La ESPAC 2024 no publica el penco entre los principales cultivos de Carchi. El piloto debe construir una línea base propia.</a:t>
            </a:r>
          </a:p>
        </p:txBody>
      </p:sp>
    </p:spTree>
    <p:extLst>
      <p:ext uri="{BB962C8B-B14F-4D97-AF65-F5344CB8AC3E}">
        <p14:creationId xmlns:p14="http://schemas.microsoft.com/office/powerpoint/2010/main" val="1316203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FFE2C9-9E85-45A5-99BF-610AD8B8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1F8E805-4720-400B-B0A8-B4671D84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0A5EC1-3ABF-46F3-B1FD-C42A5B36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B361111-908A-419D-B265-D71E7006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4BBCA60-A12F-4924-90E3-EF97910A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F33C04-2A7D-4F32-9A95-A0658AE0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NUESTRA SOLUCIÓN</a:t>
            </a:r>
          </a:p>
        </p:txBody>
      </p:sp>
      <p:sp>
        <p:nvSpPr>
          <p:cNvPr id="28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44D753-9F7A-5481-3AB5-DF98BA9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Penkay conecta satélite, evidencia de campo y trazabilidad en una sola plataforma</a:t>
            </a:r>
            <a:endParaRPr sz="1100" b="0" i="0">
              <a:solidFill>
                <a:srgbClr val="646E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3F66A-ED46-4F4A-83EF-D639AD7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GreenTrace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75B4A-290E-4994-A877-3B0DCE2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Sentinel-1 y Sentinel-2 observan humedad, cobertura y vigor. El dron aporta calibración periódica.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80C42A-C2DF-4704-83FA-AC79A6D6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Captura móvil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40CE7-EA3C-4494-AF08-40707C65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Las fotografías geolocalizadas unen la observación del productor con la parcela y su historial.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5BAFB8-B28B-4451-B07B-AF5B8FDF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IA y trazabilidad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35F3B3-F0C9-48CC-82E6-6F26131F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Python y YOLO apoyarán la detección de estrés. QR, PDF y hash mantienen el origen de cada reporte.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0d81bb2b14315"/>
          <a:stretch xmlns:a="http://schemas.openxmlformats.org/drawingml/2006/main"/>
        </p:blipFill>
        <p:spPr>
          <a:xfrm xmlns:a="http://schemas.openxmlformats.org/drawingml/2006/main">
            <a:off x="3667125" y="2049060"/>
            <a:ext cx="8001000" cy="4502955"/>
          </a:xfrm>
          <a:prstGeom xmlns:a="http://schemas.openxmlformats.org/drawingml/2006/main" prst="roundRect">
            <a:avLst>
              <a:gd name="adj" fmla="val 2537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3D69E3-40DC-40AA-8F8C-C423320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Estado actual: prototipo frontend funcional. La autenticación, API, persistencia e integraciones de datos reales corresponden a la siguiente fase.</a:t>
            </a:r>
          </a:p>
        </p:txBody>
      </p:sp>
    </p:spTree>
    <p:extLst>
      <p:ext uri="{BB962C8B-B14F-4D97-AF65-F5344CB8AC3E}">
        <p14:creationId xmlns:p14="http://schemas.microsoft.com/office/powerpoint/2010/main" val="801575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F26EC45-7C4D-4C65-A2E3-2A3CC224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463B195-9498-42BC-B263-967F1B33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C4EE15-5179-43CF-AD92-62A3D9D0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440EFB2-7697-49A0-BE2D-FE94B3D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58CFA4-32E0-42B8-9C78-570CEB34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B2CD7B-E594-4B8F-AB70-510BA229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VIABILIDAD DE LA SOLUCIÓN</a:t>
            </a:r>
          </a:p>
        </p:txBody>
      </p:sp>
      <p:sp>
        <p:nvSpPr>
          <p:cNvPr id="44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F04FB6-A6AD-19A3-419E-45B96FE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Tecnología abierta, validación en territorio y un equipo multidisciplinario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5073eea1d4d29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47875"/>
            <a:ext cx="5286375" cy="29718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ad423d04847c1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2225" y="2047875"/>
            <a:ext cx="5286375" cy="29718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C8A6EB-D0A8-4A83-B461-36009AD4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Calibración de alta resolución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283A99-ED7C-4C95-B96A-15A31375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1492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Validación con conocimiento local y académico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443CB2-DF5F-4C4E-8C5B-D17DDABD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2AF75B-DD55-4371-A771-1F9E5A19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USD 4.449,50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0A6DC3-1979-46A1-8D86-BAF4292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67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inversión total estimada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BE62FE-5D1B-4984-A729-33EBF2E0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48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270 horas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63C4CA-971D-4AF3-A358-84D395FB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67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cinco perfiles especializados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0A0D6D-50BF-4C71-9C10-3919C1CB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48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USD 81 a 182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3C22A8-82D1-4309-B774-A49E96A8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067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operación mensual estimada</a:t>
            </a:r>
          </a:p>
        </p:txBody>
      </p:sp>
    </p:spTree>
    <p:extLst>
      <p:ext uri="{BB962C8B-B14F-4D97-AF65-F5344CB8AC3E}">
        <p14:creationId xmlns:p14="http://schemas.microsoft.com/office/powerpoint/2010/main" val="1326528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178B7D-19D5-43B1-893A-C3CD55F0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6C80F0B-C761-4DC0-854B-F493219F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699163-F902-4C8C-8239-66DA6202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40445AE-E2D2-4DCC-A14B-D38D151F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FC1FE5E-3C5F-4B4F-A88D-405774F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11D462-4DC9-45CB-B554-5DFDA218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TIME TO MARKET</a:t>
            </a:r>
            <a:endParaRPr sz="2700" b="1" i="0">
              <a:solidFill>
                <a:srgbClr val="1F585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4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918613-80AB-7630-E1CB-305A5C6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0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Seis semanas hasta una primera validación técnica y de campo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736C2B-E041-46D4-9436-54724288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6 semanas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EBC13-2BF8-438E-B824-85285A2F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5B33D3-E564-4D96-B176-AA522B4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1C19D5-CC36-4B9F-A679-967ECEB3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Planificación y diseño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9053CA-CCDB-4084-9C8C-FED283C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022FF0-749B-47FC-AE7A-1E33E34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AF7904-6E48-49DD-B714-2F41BD2D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23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Desarrollo base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51A2F7-8B63-4B5B-AF44-6885A4D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9C4EFC-8E53-49F2-96D4-93A94EB7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9EA832-B516-4183-90B3-2A210BA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GIS, Sentinel y procesamiento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1936E3-D0AF-4AC4-94B2-7CE5DD5D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94B356-216F-4F28-A56B-060B9737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CB7675-636A-4EEC-BC83-CF117DBE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7197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Captura, dashboard y reportes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11D64E-6034-43E3-85AF-9559F40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DA0E2C-A306-4089-A3F4-FB03AFAC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D8E2F3-DC67-44E9-AF64-506695C1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Pruebas y validación de campo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A1EF8B-55A0-4122-8F27-8BD86AD1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1FC9B2-3EAC-4C7B-BF36-67967F7B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56B4EE-7E58-4CFC-99E4-BDE4D46D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Ajustes y documentación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28f686a36415a"/>
          <a:stretch xmlns:a="http://schemas.openxmlformats.org/drawingml/2006/main"/>
        </p:blipFill>
        <p:spPr>
          <a:xfrm xmlns:a="http://schemas.openxmlformats.org/drawingml/2006/main">
            <a:off x="5334000" y="2096936"/>
            <a:ext cx="6324600" cy="3559479"/>
          </a:xfrm>
          <a:prstGeom xmlns:a="http://schemas.openxmlformats.org/drawingml/2006/main" prst="roundRect">
            <a:avLst>
              <a:gd name="adj" fmla="val 3209"/>
            </a:avLst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CA019A-7F73-4B08-8521-84B23429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1025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Fase posterior al MVP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DD19F-4405-49CF-9308-8B59A92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96000"/>
            <a:ext cx="632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La evidencia geolocalizada permitirá entrenar y validar modelos YOLO antes de automatizar alertas.</a:t>
            </a:r>
          </a:p>
        </p:txBody>
      </p:sp>
    </p:spTree>
    <p:extLst>
      <p:ext uri="{BB962C8B-B14F-4D97-AF65-F5344CB8AC3E}">
        <p14:creationId xmlns:p14="http://schemas.microsoft.com/office/powerpoint/2010/main" val="2090911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EA9882-4239-4570-8F46-B69C7AD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764AED7-4365-4620-B2A1-8023DA1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BB519D-6332-4F87-B674-1B1C0F24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E65A4AB-F66E-466E-8883-2D66AFAD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5FF975-95C2-499B-973F-EB9BE53B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5F22718-9FE3-4578-9CD2-7FAD2427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IMPACTO QUE PODEMOS GENERAR</a:t>
            </a:r>
          </a:p>
        </p:txBody>
      </p:sp>
      <p:sp>
        <p:nvSpPr>
          <p:cNvPr id="44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5BBDFC-5872-C4DB-329D-580E3B66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Metas verificables para el piloto en parcelas de Carchi</a:t>
            </a:r>
            <a:endParaRPr sz="1100">
              <a:solidFill>
                <a:srgbClr val="646E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929CF2-9AFE-4973-A7C6-9A98897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10+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470720-997D-44FB-95A0-4C302945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parcelas georreferenciadas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F4479A-AEAD-4215-B608-0E61C14F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200+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38957E-B7BF-4B2C-B68E-C5D0ACDB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fotografías georreferenciadas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EF1C34-0226-4189-8C4C-9E2EBD34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100 %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B69CBC-0EAE-4805-A81A-A76AC10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de reportes con hash verificable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90a185ff3437b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047875"/>
            <a:ext cx="6715125" cy="3781425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B838BF-F586-4B9E-B416-36C4DE5F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43600"/>
            <a:ext cx="671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Indicadores: NDVI, SAVI, humedad, biomasa, carbono del suelo y erosión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033CFA-F3B1-4287-8237-DFA638E0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El carbono se reportará como estimación hasta completar calibración local. No equivale a un crédito certificado.</a:t>
            </a:r>
          </a:p>
        </p:txBody>
      </p:sp>
    </p:spTree>
    <p:extLst>
      <p:ext uri="{BB962C8B-B14F-4D97-AF65-F5344CB8AC3E}">
        <p14:creationId xmlns:p14="http://schemas.microsoft.com/office/powerpoint/2010/main" val="687265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EF5C8F-3116-4AB7-B2A9-A42099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B69606C-0A02-4D56-BBCC-1878832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80F381F-307F-44EA-87F4-E9F8D6FA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7AB6D8E-9999-457C-9C09-E957E32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95344F-F8E2-428B-8321-3E44792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8E522F2-4FCC-46AA-BFA2-A4C0573B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CIERRE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CD7D18-2317-4912-90A0-746AC9E8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25880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3"/>
                </a:solidFill>
                <a:latin typeface="Aptos"/>
                <a:ea typeface="Aptos"/>
                <a:cs typeface="Aptos"/>
              </a:rPr>
              <a:t>Una red de evidencia compartida entre productores, comunidad y academia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7159B-4931-4536-ACF5-AFED7B10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4048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Penkay convierte cada parcela en evidencia compartida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AF2DC-9327-4E7C-B574-3B765D53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3857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446"/>
                </a:solidFill>
                <a:latin typeface="Aptos"/>
                <a:ea typeface="Aptos"/>
                <a:cs typeface="Aptos"/>
              </a:rPr>
              <a:t>Los productores registran evidencia. La academia valida los métodos. La comunidad aprende y participa en las decisiones.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E2244-BA2D-417B-8BCF-4C3F218E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7F3EA-7864-4739-BE3A-C9C78EC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Próximo paso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D1EB4-2C02-4C60-9645-98F87FBA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Validar el piloto en 10 parcelas de Carchi y sustituir los datos demostrativos por servicios persistentes y auditables.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5b32ef75a4e76"/>
          <a:stretch xmlns:a="http://schemas.openxmlformats.org/drawingml/2006/main"/>
        </p:blipFill>
        <p:spPr>
          <a:xfrm xmlns:a="http://schemas.openxmlformats.org/drawingml/2006/main">
            <a:off x="4762748" y="2000250"/>
            <a:ext cx="6905129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AD1FE-CA33-4F13-B9F0-EDEDB1C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57900"/>
            <a:ext cx="690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TERRA AVENTURE</a:t>
            </a:r>
          </a:p>
        </p:txBody>
      </p:sp>
    </p:spTree>
    <p:extLst>
      <p:ext uri="{BB962C8B-B14F-4D97-AF65-F5344CB8AC3E}">
        <p14:creationId xmlns:p14="http://schemas.microsoft.com/office/powerpoint/2010/main" val="5246913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2026-09-04T17:24:50.5190000Z</dcterms:created>
  <dcterms:modified xsi:type="dcterms:W3CDTF">2026-09-04T17:24:50.5190000Z</dcterms:modified>
</coreProperties>
</file>