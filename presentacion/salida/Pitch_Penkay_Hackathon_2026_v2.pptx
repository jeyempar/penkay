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2b3eb947334fa7" /><Relationship Type="http://schemas.openxmlformats.org/officeDocument/2006/relationships/extended-properties" Target="/docProps/app.xml" Id="R9bd280fc0356483b" /><Relationship Type="http://schemas.openxmlformats.org/officeDocument/2006/relationships/officeDocument" Target="/ppt/presentation.xml" Id="Re520e13d4d3d48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3c87c3aee840ef"/>
  </p:sldMasterIdLst>
  <p:notesMasterIdLst>
    <p:notesMasterId xmlns:r="http://schemas.openxmlformats.org/officeDocument/2006/relationships" r:id="Raa585f0f5761454d"/>
  </p:notesMasterIdLst>
  <p:sldIdLst>
    <p:sldId xmlns:r="http://schemas.openxmlformats.org/officeDocument/2006/relationships" id="256" r:id="R45f2815587ff433f"/>
    <p:sldId xmlns:r="http://schemas.openxmlformats.org/officeDocument/2006/relationships" id="257" r:id="R75b2a1d636db428c"/>
    <p:sldId xmlns:r="http://schemas.openxmlformats.org/officeDocument/2006/relationships" id="258" r:id="R85268769c97645c7"/>
    <p:sldId xmlns:r="http://schemas.openxmlformats.org/officeDocument/2006/relationships" id="259" r:id="Rb8bd62ac63df4335"/>
    <p:sldId xmlns:r="http://schemas.openxmlformats.org/officeDocument/2006/relationships" id="260" r:id="R50cda61cf2ba49d5"/>
    <p:sldId xmlns:r="http://schemas.openxmlformats.org/officeDocument/2006/relationships" id="261" r:id="R7ef3fc53826c4135"/>
    <p:sldId xmlns:r="http://schemas.openxmlformats.org/officeDocument/2006/relationships" id="262" r:id="R47a7a2537b2d40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c790650e4b4c98" /><Relationship Type="http://schemas.openxmlformats.org/officeDocument/2006/relationships/slideMaster" Target="/ppt/slideMasters/slideMaster1.xml" Id="Rd33c87c3aee840ef" /><Relationship Type="http://schemas.openxmlformats.org/officeDocument/2006/relationships/notesMaster" Target="/ppt/notesMasters/notesMaster1.xml" Id="Raa585f0f5761454d" /><Relationship Type="http://schemas.openxmlformats.org/officeDocument/2006/relationships/presProps" Target="/ppt/presProps.xml" Id="R3d7c7a2c14664d47" /><Relationship Type="http://schemas.openxmlformats.org/officeDocument/2006/relationships/viewProps" Target="/ppt/viewProps.xml" Id="R0a8eea3643f64e80" /><Relationship Type="http://schemas.openxmlformats.org/officeDocument/2006/relationships/tableStyles" Target="/ppt/tableStyles.xml" Id="Ra7ae51b2b1e346f9" /><Relationship Type="http://schemas.openxmlformats.org/officeDocument/2006/relationships/slide" Target="/ppt/slides/slide1.xml" Id="R45f2815587ff433f" /><Relationship Type="http://schemas.openxmlformats.org/officeDocument/2006/relationships/slide" Target="/ppt/slides/slide2.xml" Id="R75b2a1d636db428c" /><Relationship Type="http://schemas.openxmlformats.org/officeDocument/2006/relationships/slide" Target="/ppt/slides/slide3.xml" Id="R85268769c97645c7" /><Relationship Type="http://schemas.openxmlformats.org/officeDocument/2006/relationships/slide" Target="/ppt/slides/slide4.xml" Id="Rb8bd62ac63df4335" /><Relationship Type="http://schemas.openxmlformats.org/officeDocument/2006/relationships/slide" Target="/ppt/slides/slide5.xml" Id="R50cda61cf2ba49d5" /><Relationship Type="http://schemas.openxmlformats.org/officeDocument/2006/relationships/slide" Target="/ppt/slides/slide6.xml" Id="R7ef3fc53826c4135" /><Relationship Type="http://schemas.openxmlformats.org/officeDocument/2006/relationships/slide" Target="/ppt/slides/slide7.xml" Id="R47a7a2537b2d40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3560ccfa1a42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87122f688d4c85" /><Relationship Type="http://schemas.openxmlformats.org/officeDocument/2006/relationships/notesMaster" Target="/ppt/notesMasters/notesMaster1.xml" Id="Re4c52dacce1e4d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333ce173cb4e75" /><Relationship Type="http://schemas.openxmlformats.org/officeDocument/2006/relationships/notesMaster" Target="/ppt/notesMasters/notesMaster1.xml" Id="Rbbcc15ff191e46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1ad7f67c694ab2" /><Relationship Type="http://schemas.openxmlformats.org/officeDocument/2006/relationships/notesMaster" Target="/ppt/notesMasters/notesMaster1.xml" Id="R6489a8ed01ef43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6be2e29fa64f70" /><Relationship Type="http://schemas.openxmlformats.org/officeDocument/2006/relationships/notesMaster" Target="/ppt/notesMasters/notesMaster1.xml" Id="Re6ab0d758bf443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2e77a0d6004104" /><Relationship Type="http://schemas.openxmlformats.org/officeDocument/2006/relationships/notesMaster" Target="/ppt/notesMasters/notesMaster1.xml" Id="R45643c9bdb8146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931b81d8d54898" /><Relationship Type="http://schemas.openxmlformats.org/officeDocument/2006/relationships/notesMaster" Target="/ppt/notesMasters/notesMaster1.xml" Id="R7db34b7ab2b34d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9f78d00976482f" /><Relationship Type="http://schemas.openxmlformats.org/officeDocument/2006/relationships/notesMaster" Target="/ppt/notesMasters/notesMaster1.xml" Id="R1cb162aea2054a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Proyecto: Penkay, equipo Terra Aventure, Reto 2 Pencos del Norte.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Fuentes: FUNCIONALIDAD_MVP.md, ARQUITECTURA_MVP.md y documentos del hackathon suministrados en la carpeta de materiales.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El visual de portada fue generado como ilustración conceptual y no documenta una visita de campo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1-Diagnóstico y líneas de base.docx.</a:t>
            </a:r>
          </a:p>
          <a:p xmlns:a="http://schemas.openxmlformats.org/drawingml/2006/main">
            <a:r>
              <a:t>El documento propone diferenciar mediciones locales, estimaciones y referencias externas.</a:t>
            </a:r>
          </a:p>
          <a:p xmlns:a="http://schemas.openxmlformats.org/drawingml/2006/main">
            <a:r>
              <a:t>La resolución de 10 m de Sentinel-2 y la necesidad de calibración con dron y campo constan en el diagnóstico suministrado.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FUNCIONALIDAD_MVP.md y ARQUITECTURA_MVP.md.</a:t>
            </a:r>
          </a:p>
          <a:p xmlns:a="http://schemas.openxmlformats.org/drawingml/2006/main">
            <a:r>
              <a:t>Stack actual: React 19, TypeScript, Vinext, Vite 8, Tailwind CSS 4, Shadcn/Base UI y Cloudflare Workers como runtime objetivo.</a:t>
            </a:r>
          </a:p>
          <a:p xmlns:a="http://schemas.openxmlformats.org/drawingml/2006/main">
            <a:r>
              <a:t>La integración nativa con Sentinel, almacenamiento, autenticación y YOLO se presenta como arquitectura objetivo, no como funcionalidad productiva ya desplegada.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6-Estimación de costos.docx, tablas de recursos humanos, presupuesto total y OPEX.</a:t>
            </a:r>
          </a:p>
          <a:p xmlns:a="http://schemas.openxmlformats.org/drawingml/2006/main">
            <a:r>
              <a:t>El presupuesto total de USD 4.449,50 incluye USD 4.045,00 de implementación y una contingencia del 10 por ciento.</a:t>
            </a:r>
          </a:p>
          <a:p xmlns:a="http://schemas.openxmlformats.org/drawingml/2006/main">
            <a:r>
              <a:t>Las dos imágenes son visuales conceptuales generados para explicar el modelo operativo. No registran eventos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6-Estimación de costos.docx, cronograma físico financiero de seis semanas.</a:t>
            </a:r>
          </a:p>
          <a:p xmlns:a="http://schemas.openxmlformats.org/drawingml/2006/main">
            <a:r>
              <a:t>Costo acumulado antes de contingencia: USD 600 en la semana 1, USD 1.250 en la semana 2, USD 2.050 en la semana 3, USD 2.950 en la semana 4, USD 3.650 en la semana 5 y USD 4.045 en la semana 6.</a:t>
            </a:r>
          </a:p>
          <a:p xmlns:a="http://schemas.openxmlformats.org/drawingml/2006/main">
            <a:r>
              <a:t>El documento de costos excluye la detección automática con YOLO del presupuesto inicial. La presenta como fase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1-Diagnóstico y líneas de base.docx y 6-Estimación de costos.docx, tabla de indicadores de desempeño.</a:t>
            </a:r>
          </a:p>
          <a:p xmlns:a="http://schemas.openxmlformats.org/drawingml/2006/main">
            <a:r>
              <a:t>Metas piloto: al menos 10 productores y parcelas, al menos 100 plantas, al menos 200 fotografías georreferenciadas, 100 por ciento de reportes con hash y disponibilidad mínima de 95 por ciento.</a:t>
            </a:r>
          </a:p>
          <a:p xmlns:a="http://schemas.openxmlformats.org/drawingml/2006/main">
            <a:r>
              <a:t>Los valores de carbono de literatura funcionan como referencia. El proyecto debe calibrarlos por especie, edad, clima, manejo y destino de la biomasa.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propuesto a partir de la arquitectura objetivo y las metas piloto documentadas.</a:t>
            </a:r>
          </a:p>
          <a:p xmlns:a="http://schemas.openxmlformats.org/drawingml/2006/main">
            <a:r>
              <a:t>La prioridad posterior al prototipo consiste en implementar autenticación, persistencia, almacenamiento de evidencias, mapas reales y auditoría.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531aa24a348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bb4b675984c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274b188f04e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855eed69348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8b8285d254c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e7c2d8968406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c3bfccb86487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e8a50444c40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5ea7f037843b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6e1fe4996467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7c2acbc3045e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322462a774cc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94EF19-39D6-418E-8824-CB1646D7435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C450FFF-5631-4AAF-8674-06ACD2C761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23BDA0-C132-42F9-A454-7EA0DF439C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A95BB2-0866-4DB5-B590-E1EB21DD1D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7D1B8A-4445-4D7C-92A2-EAF6D919B9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0B28A7-D2A0-4BF3-9255-14F6583F41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9B3AA6-F274-47BE-9C16-F3B964394F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E50DAB-6D51-4788-AC5B-8B2F904996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40DCCE-36F2-4088-A81B-8A3AEA2DE6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66129D-B010-4133-90E8-C7242119FF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3ECED5-5922-4FFA-A824-3436230F3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E77058-4EF8-40FB-B68F-924F2617BA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7361EB-1D9C-49A2-841A-DF653BBFAD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6913E6-FEEF-4E56-9B36-DA62E9BED0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35BA15-E8C7-4046-80B1-93FC6DDF02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0ACEDF-F5D1-4020-AED1-DBCEB1D869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3A924-93F0-46F0-911C-8F9A5B34C8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E7852CB-13D2-4E70-9105-D0336A12E4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CA25C7-2818-462D-8D5F-C763128BB2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306A2CE-F917-43DB-B0F7-B401DFE5A3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BEAFC1-2FC8-43B2-BF0D-A184D14CE2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5ECD41-CAEF-4A19-B628-53F1E5F22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1E2AC3-37F4-438F-9B40-B846588104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6228773-2B93-4389-97F1-B0D60F8CE9F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FB576BB-0309-44B5-99C3-4A7284F533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DDFA9A1-BC1C-4A39-B395-83543CD453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3E33CEF-63F4-4D5C-BE37-234674F168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B0962FC-DF82-4365-85E5-3A164098EA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0C1450F-BCF4-4EE9-B331-35DA470886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2C8ABA-DCCC-45CB-9206-821391F59C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9AA8E7A-9D02-4CB8-829B-9650DBAA84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9D469F6-F180-4DB0-B45B-39EAA7934C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4804606-80F0-4A07-A36D-7FF1223F0E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DE2266F-8950-46C6-9173-A6EEDC4AEC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AF55606-D487-4AD3-B991-CE92A78741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DCDEB05-E50C-469E-917A-A66CCB2E43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97D8E5-7F08-4F0C-B739-E29E9D8333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84C96A-5DA8-4EE2-954C-478B7DBCDB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F62960F-BD6E-449B-B36C-EC8D545107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6FA003-1E6A-4A71-A8F3-4E37AE464F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126E683-9592-49CC-88BE-E5AD858E30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D41361-CACF-447A-98E2-7658D668B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AB694E-E252-4A0F-A5CC-16CC5C28E1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5D9F7C5-9188-4296-AAD5-A2BBF93BE53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7F1CC88-0B6E-4573-ABBC-F550CD9D7A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5789D1-E2D1-4A69-BE3B-DCCDACA98F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A523993-09B7-499E-B470-570047074B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80F7A16-1D14-445C-A314-D132BF5712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C6A22C-26C9-4BF0-8A5D-922407B3B9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4EF215-BED1-40FC-8FCA-4E63C848A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2539AD3-640C-4286-BE9E-2D44E9F700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6FE9BB-9479-44EC-8A9E-9702836722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107D2F-7F4E-4A0F-A56F-5824CC5DB3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A559E23-0614-4F92-991C-612C50448A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0DD20AC-521C-4EDC-BC7A-28EEA33FFD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4E390CF-1BF1-4CD1-8920-CCA316302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489E8C5-A0F4-400C-9E2E-E6BC73399C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CD7ADA-8743-458E-8BC6-8F5F44F003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and body">
  <p:cSld name="Title and body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45E3B07D-E863-4BA4-ACEC-65ED2CA27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800" cy="76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3E494A"/>
              </a:buClr>
              <a:buSzPts val="2800"/>
              <a:buFont typeface="Barlow SemiBold"/>
              <a:buNone/>
              <a:defRPr>
                <a:solidFill>
                  <a:srgbClr val="3E494A"/>
                </a:solidFill>
                <a:latin typeface="Barlow SemiBold"/>
                <a:ea typeface="Barlow SemiBold"/>
                <a:cs typeface="Barlow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B9657DA5-B75A-4652-A719-BF3973DC5C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8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609585" indent="-457189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800"/>
              <a:buFont typeface="Barlow"/>
              <a:buChar char="●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1pPr>
            <a:lvl2pPr marL="1219170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○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2pPr>
            <a:lvl3pPr marL="1828754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■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3pPr>
            <a:lvl4pPr marL="2438339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●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4pPr>
            <a:lvl5pPr marL="3047924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○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5pPr>
            <a:lvl6pPr marL="3657509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■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6pPr>
            <a:lvl7pPr marL="4267093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●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7pPr>
            <a:lvl8pPr marL="4876678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○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8pPr>
            <a:lvl9pPr marL="5486263" indent="-423323">
              <a:spcBef>
                <a:spcPts val="0"/>
              </a:spcBef>
              <a:spcAft>
                <a:spcPts val="0"/>
              </a:spcAft>
              <a:buClr>
                <a:srgbClr val="1F5D5F"/>
              </a:buClr>
              <a:buSzPts val="1400"/>
              <a:buFont typeface="Barlow"/>
              <a:buChar char="■"/>
              <a:defRPr>
                <a:solidFill>
                  <a:srgbClr val="1F5D5F"/>
                </a:solidFill>
                <a:latin typeface="Barlow"/>
                <a:ea typeface="Barlow"/>
                <a:cs typeface="Barlow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359E2441-00B6-4C58-9D3E-19E26D212B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1" y="6217623"/>
            <a:ext cx="731600" cy="52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2038be8f414d48" /><Relationship Type="http://schemas.openxmlformats.org/officeDocument/2006/relationships/slideLayout" Target="/ppt/slideLayouts/slideLayout1.xml" Id="R4d30dc5594cd4c82" /><Relationship Type="http://schemas.openxmlformats.org/officeDocument/2006/relationships/slideLayout" Target="/ppt/slideLayouts/slideLayout2.xml" Id="Re1f9ccbca7204077" /><Relationship Type="http://schemas.openxmlformats.org/officeDocument/2006/relationships/slideLayout" Target="/ppt/slideLayouts/slideLayout3.xml" Id="R71d6b914f1e041ef" /><Relationship Type="http://schemas.openxmlformats.org/officeDocument/2006/relationships/slideLayout" Target="/ppt/slideLayouts/slideLayout4.xml" Id="R1f5da3714a144b56" /><Relationship Type="http://schemas.openxmlformats.org/officeDocument/2006/relationships/slideLayout" Target="/ppt/slideLayouts/slideLayout5.xml" Id="Rdfd0b32db9c64007" /><Relationship Type="http://schemas.openxmlformats.org/officeDocument/2006/relationships/slideLayout" Target="/ppt/slideLayouts/slideLayout6.xml" Id="R00b0f8971cf041af" /><Relationship Type="http://schemas.openxmlformats.org/officeDocument/2006/relationships/slideLayout" Target="/ppt/slideLayouts/slideLayout7.xml" Id="R49de2235fb04415b" /><Relationship Type="http://schemas.openxmlformats.org/officeDocument/2006/relationships/slideLayout" Target="/ppt/slideLayouts/slideLayout8.xml" Id="R93c9396f187b445b" /><Relationship Type="http://schemas.openxmlformats.org/officeDocument/2006/relationships/slideLayout" Target="/ppt/slideLayouts/slideLayout9.xml" Id="R037386caf76e4bdf" /><Relationship Type="http://schemas.openxmlformats.org/officeDocument/2006/relationships/slideLayout" Target="/ppt/slideLayouts/slideLayout10.xml" Id="R0cb3725ea5c74f5e" /><Relationship Type="http://schemas.openxmlformats.org/officeDocument/2006/relationships/slideLayout" Target="/ppt/slideLayouts/slideLayout11.xml" Id="R1a1e4848f3734a36" /><Relationship Type="http://schemas.openxmlformats.org/officeDocument/2006/relationships/slideLayout" Target="/ppt/slideLayouts/slideLayout12.xml" Id="R4a90d4bd9cc9494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E0F9A25-9874-4A22-95C7-65190132E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87034E-1E3F-430E-9B09-39586AE6F1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6BC2A0-D549-407F-A3CB-3A2FF6DA903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2B3052-CF94-4032-8AB8-0BAFAAB884C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7F5D0D-FE88-4FA4-8EB4-E232809CE9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30dc5594cd4c82"/>
    <p:sldLayoutId xmlns:r="http://schemas.openxmlformats.org/officeDocument/2006/relationships" id="2147483650" r:id="Re1f9ccbca7204077"/>
    <p:sldLayoutId xmlns:r="http://schemas.openxmlformats.org/officeDocument/2006/relationships" id="2147483651" r:id="R71d6b914f1e041ef"/>
    <p:sldLayoutId xmlns:r="http://schemas.openxmlformats.org/officeDocument/2006/relationships" id="2147483652" r:id="R1f5da3714a144b56"/>
    <p:sldLayoutId xmlns:r="http://schemas.openxmlformats.org/officeDocument/2006/relationships" id="2147483653" r:id="Rdfd0b32db9c64007"/>
    <p:sldLayoutId xmlns:r="http://schemas.openxmlformats.org/officeDocument/2006/relationships" id="2147483654" r:id="R00b0f8971cf041af"/>
    <p:sldLayoutId xmlns:r="http://schemas.openxmlformats.org/officeDocument/2006/relationships" id="2147483655" r:id="R49de2235fb04415b"/>
    <p:sldLayoutId xmlns:r="http://schemas.openxmlformats.org/officeDocument/2006/relationships" id="2147483656" r:id="R93c9396f187b445b"/>
    <p:sldLayoutId xmlns:r="http://schemas.openxmlformats.org/officeDocument/2006/relationships" id="2147483657" r:id="R037386caf76e4bdf"/>
    <p:sldLayoutId xmlns:r="http://schemas.openxmlformats.org/officeDocument/2006/relationships" id="2147483658" r:id="R0cb3725ea5c74f5e"/>
    <p:sldLayoutId xmlns:r="http://schemas.openxmlformats.org/officeDocument/2006/relationships" id="2147483659" r:id="R1a1e4848f3734a36"/>
    <p:sldLayoutId xmlns:r="http://schemas.openxmlformats.org/officeDocument/2006/relationships" id="2147483660" r:id="R4a90d4bd9cc9494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dd4c3fec7da46e3" /><Relationship Type="http://schemas.openxmlformats.org/officeDocument/2006/relationships/image" Target="/ppt/media/image.jpeg" Id="R2942656d10864032" /><Relationship Type="http://schemas.openxmlformats.org/officeDocument/2006/relationships/image" Target="/ppt/media/image.png" Id="R6730b88ad6384940" /><Relationship Type="http://schemas.openxmlformats.org/officeDocument/2006/relationships/image" Target="/ppt/media/image2.png" Id="R7bfda133dca04898" /><Relationship Type="http://schemas.openxmlformats.org/officeDocument/2006/relationships/notesSlide" Target="/ppt/notesSlides/notesSlide1.xml" Id="Rf6cd81e6d81346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f3fc2a32584a2e" /><Relationship Type="http://schemas.openxmlformats.org/officeDocument/2006/relationships/image" Target="/ppt/media/image3.png" Id="Rbb410a805f014380" /><Relationship Type="http://schemas.openxmlformats.org/officeDocument/2006/relationships/notesSlide" Target="/ppt/notesSlides/notesSlide2.xml" Id="R94a882b9c69648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50192c23514253" /><Relationship Type="http://schemas.openxmlformats.org/officeDocument/2006/relationships/image" Target="/ppt/media/image4.png" Id="Rfb56cf721571411d" /><Relationship Type="http://schemas.openxmlformats.org/officeDocument/2006/relationships/notesSlide" Target="/ppt/notesSlides/notesSlide3.xml" Id="Ra71a0db1cd4e44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a31669179a412a" /><Relationship Type="http://schemas.openxmlformats.org/officeDocument/2006/relationships/image" Target="/ppt/media/image5.png" Id="R695bbb1a33914574" /><Relationship Type="http://schemas.openxmlformats.org/officeDocument/2006/relationships/image" Target="/ppt/media/image6.png" Id="R8a34ff56d9e34819" /><Relationship Type="http://schemas.openxmlformats.org/officeDocument/2006/relationships/notesSlide" Target="/ppt/notesSlides/notesSlide4.xml" Id="R9a81034565174a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8c84f03cbd4c82" /><Relationship Type="http://schemas.openxmlformats.org/officeDocument/2006/relationships/image" Target="/ppt/media/image7.png" Id="Raba6c632eee740cc" /><Relationship Type="http://schemas.openxmlformats.org/officeDocument/2006/relationships/notesSlide" Target="/ppt/notesSlides/notesSlide5.xml" Id="Re46b4507051d43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c115d45a034c07" /><Relationship Type="http://schemas.openxmlformats.org/officeDocument/2006/relationships/image" Target="/ppt/media/image8.png" Id="Rc2a8c68389b24e4e" /><Relationship Type="http://schemas.openxmlformats.org/officeDocument/2006/relationships/notesSlide" Target="/ppt/notesSlides/notesSlide6.xml" Id="R4ab15685648d4c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00cd3b61db416e" /><Relationship Type="http://schemas.openxmlformats.org/officeDocument/2006/relationships/image" Target="/ppt/media/image9.png" Id="R663c12ada87f4945" /><Relationship Type="http://schemas.openxmlformats.org/officeDocument/2006/relationships/notesSlide" Target="/ppt/notesSlides/notesSlide7.xml" Id="R748fa3015d5846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6819FFCD-048A-4189-BA0F-24530776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7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5F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B3FD5A9D-E988-466F-AB17-20A352B3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200" y="0"/>
            <a:ext cx="92908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marL="609585" indent="-423323" algn="ctr">
              <a:buSzPts val="1400"/>
              <a:buChar char="●"/>
            </a:pPr>
            <a:endParaRPr sz="2400"/>
          </a:p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A2091F55-97F4-46C2-8AA6-126ABA07C55C}"/>
              </a:ext>
            </a:extLst>
          </p:cNvPr>
          <p:cNvSpPr>
            <a:spLocks xmlns:a="http://schemas.openxmlformats.org/drawingml/2006/main" noGrp="1"/>
          </p:cNvSpPr>
          <p:nvPr>
            <p:ph type="ctrTitle" idx="4294967295"/>
          </p:nvPr>
        </p:nvSpPr>
        <p:spPr>
          <a:xfrm xmlns:a="http://schemas.openxmlformats.org/drawingml/2006/main">
            <a:off x="3241500" y="1708001"/>
            <a:ext cx="8343600" cy="1573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None/>
            </a:pPr>
            <a:r>
              <a:rPr sz="6000" b="1"/>
              <a:t/>
            </a:r>
            <a:endParaRPr sz="6000" b="1">
              <a:latin typeface="Barlow"/>
              <a:ea typeface="Barlow"/>
              <a:cs typeface="Barlow"/>
            </a:endParaRPr>
          </a:p>
        </p:txBody>
      </p:sp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3FD2F900-E8B4-4CBF-BB7D-AC966CBE4F8D}"/>
              </a:ext>
            </a:extLst>
          </p:cNvPr>
          <p:cNvSpPr>
            <a:spLocks xmlns:a="http://schemas.openxmlformats.org/drawingml/2006/main" noGrp="1"/>
          </p:cNvSpPr>
          <p:nvPr>
            <p:ph type="ctrTitle" idx="4294967295"/>
          </p:nvPr>
        </p:nvSpPr>
        <p:spPr>
          <a:xfrm xmlns:a="http://schemas.openxmlformats.org/drawingml/2006/main">
            <a:off x="3047600" y="3663367"/>
            <a:ext cx="8919600" cy="2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169329">
              <a:buClr>
                <a:srgbClr val="1F5D5F"/>
              </a:buClr>
              <a:buSzPts val="1600"/>
              <a:buNone/>
            </a:pPr>
            <a:r>
              <a:rPr sz="2133" b="1">
                <a:solidFill>
                  <a:srgbClr val="1F5D5F"/>
                </a:solidFill>
                <a:latin typeface="Barlow"/>
                <a:ea typeface="Barlow"/>
                <a:cs typeface="Barlow"/>
              </a:rPr>
              <a:t/>
            </a:r>
            <a:endParaRPr sz="2133" b="1">
              <a:solidFill>
                <a:srgbClr val="1F5D5F"/>
              </a:solidFill>
              <a:latin typeface="Barlow"/>
              <a:ea typeface="Barlow"/>
              <a:cs typeface="Barlow"/>
            </a:endParaRPr>
          </a:p>
        </p:txBody>
      </p:sp>
      <p:pic>
        <p:nvPicPr>
          <p:cNvPr id="74" name="Google Shape;60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2656d1086403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6800" y="5966133"/>
            <a:ext cx="3339221" cy="6920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C3C9E366-FFAB-4B1F-BE4E-C3F3A10F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00" y="5864533"/>
            <a:ext cx="2130800" cy="4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Clr>
                <a:schemeClr val="dk1"/>
              </a:buClr>
              <a:buSzPts val="1100"/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P. Code: 101179307</a:t>
            </a:r>
            <a:endParaRPr sz="1600" b="1">
              <a:solidFill>
                <a:schemeClr val="lt1"/>
              </a:solidFill>
              <a:latin typeface="Barlow"/>
              <a:ea typeface="Barlow"/>
              <a:cs typeface="Barlow"/>
            </a:endParaRPr>
          </a:p>
        </p:txBody>
      </p:sp>
      <p:cxnSp>
        <p:nvCxnSpPr>
          <p:cNvPr id="76" name="Google Shape;62;p13"/>
          <p:cNvCxnSpPr/>
          <p:nvPr/>
        </p:nvCxnSpPr>
        <p:spPr>
          <a:xfrm xmlns:a="http://schemas.openxmlformats.org/drawingml/2006/main" rot="10800000" flipH="1">
            <a:off x="4785800" y="3417400"/>
            <a:ext cx="5443200" cy="232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F5D5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63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0b88ad638494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8884" y="1708002"/>
            <a:ext cx="1821835" cy="3441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da133dca04898"/>
          <a:srcRect xmlns:a="http://schemas.openxmlformats.org/drawingml/2006/main" l="5004" t="0" r="5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1315" y="0"/>
            <a:ext cx="9290685" cy="5810250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6F5621-B654-4449-B4E7-AE33BAFD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3525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73D2A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173D2A"/>
                </a:solidFill>
                <a:latin typeface="Aptos Display"/>
                <a:ea typeface="Aptos Display"/>
                <a:cs typeface="Aptos Display"/>
              </a:rPr>
              <a:t>PENKAY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5992E0-74FE-409E-8751-D5441D3B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D2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3D2A"/>
                </a:solidFill>
                <a:latin typeface="Aptos Display"/>
                <a:ea typeface="Aptos Display"/>
                <a:cs typeface="Aptos Display"/>
              </a:rPr>
              <a:t>Medición del impacto ambiental del penco andino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224B3D-11C0-428A-9B80-5357E4F6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D2A"/>
                </a:solidFill>
                <a:latin typeface="Aptos"/>
                <a:ea typeface="Aptos"/>
                <a:cs typeface="Aptos"/>
              </a:rPr>
              <a:t>TERRA AVENTURE</a:t>
            </a:r>
          </a:p>
          <a:p xmlns:a="http://schemas.openxmlformats.org/drawingml/2006/main">
            <a:pPr algn="l">
              <a:defRPr sz="1500" b="1">
                <a:solidFill>
                  <a:srgbClr val="173D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D2A"/>
                </a:solidFill>
                <a:latin typeface="Aptos"/>
                <a:ea typeface="Aptos"/>
                <a:cs typeface="Aptos"/>
              </a:rPr>
              <a:t>Reto 2 · Pencos del Norte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DFE58D-D51D-4A46-86F2-BCDB3228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D2A"/>
                </a:solidFill>
                <a:latin typeface="Aptos"/>
                <a:ea typeface="Aptos"/>
                <a:cs typeface="Aptos"/>
              </a:rPr>
              <a:t>Hackathon Green Leaders Latam</a:t>
            </a:r>
          </a:p>
          <a:p xmlns:a="http://schemas.openxmlformats.org/drawingml/2006/main">
            <a:pPr algn="l">
              <a:defRPr sz="1200" b="0">
                <a:solidFill>
                  <a:srgbClr val="173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D2A"/>
                </a:solidFill>
                <a:latin typeface="Aptos"/>
                <a:ea typeface="Aptos"/>
                <a:cs typeface="Aptos"/>
              </a:rPr>
              <a:t>UPEC · 4 de 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21356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119EA2-A961-46EB-8C05-641BBE8E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FEB881B-B228-4AAA-9DAD-AD58441F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C68224F-ECD8-4929-A59F-F71157DD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A20E9CC-0CB1-476E-B333-7DDFC6FF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AB9D55-882E-4100-AFCD-A40BDCD3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F6E2AD-B0B2-4634-A8E7-E2E78954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EL PROBLEMA</a:t>
            </a:r>
          </a:p>
        </p:txBody>
      </p:sp>
      <p:sp>
        <p:nvSpPr>
          <p:cNvPr id="28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E85391-FD12-A2BD-640B-DB395D1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68811"/>
            <a:ext cx="96012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Sin una línea base por parcela, el impacto ambiental no se puede demostrar</a:t>
            </a:r>
            <a:endParaRPr sz="1100" b="0" i="0">
              <a:solidFill>
                <a:srgbClr val="646E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D40EC0-0B32-4164-97BA-C1A82AF6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671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73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444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94446"/>
                </a:solidFill>
                <a:latin typeface="Aptos Display"/>
                <a:ea typeface="Aptos Display"/>
                <a:cs typeface="Aptos Display"/>
              </a:rPr>
              <a:t>El cultivo avanza durante años sin señales frecuentes y comparables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914B64-6041-4D28-B963-F8ADF06A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E3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4241FC-368F-4E98-97EB-A627959D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Ciclo productivo prolongado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CF408-DFEC-48DF-A8F7-6FEF6AA1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El desarrollo previo a la cosecha toma entre 4 y 6 años. Los productores necesitan evidencia de avance durante ese periodo.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C503DA-73C5-4598-8C92-377A127E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E3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001042-B682-4E97-A51F-81F978DF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Carbono y suelo sin línea 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3FAEF0-4F59-4AD6-95AE-E2ACE146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Hoy faltan series históricas por parcela sobre biomasa, carbono orgánico del suelo, humedad y erosión.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763A4D-7551-46C5-96D1-042C2D1B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E3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53EE69-0C5F-4D37-885C-728AC28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Escala de observación incompleta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DDD506-F555-488E-B03C-88B26F7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Sentinel-2 permite evaluar cobertura y vigor a 10 m, pero las plantas pequeñas requieren validación con dron y registros de campo.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10a805f014380"/>
          <a:stretch xmlns:a="http://schemas.openxmlformats.org/drawingml/2006/main"/>
        </p:blipFill>
        <p:spPr>
          <a:xfrm xmlns:a="http://schemas.openxmlformats.org/drawingml/2006/main">
            <a:off x="8191500" y="2286000"/>
            <a:ext cx="3286125" cy="3286125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4E808A-25CE-473D-B371-8280FF2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8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85C"/>
                </a:solidFill>
                <a:latin typeface="Aptos"/>
                <a:ea typeface="Aptos"/>
                <a:cs typeface="Aptos"/>
              </a:rPr>
              <a:t>La ESPAC 2024 no publica el penco entre los principales cultivos de Carchi. El piloto debe construir una línea base propia.</a:t>
            </a:r>
          </a:p>
        </p:txBody>
      </p:sp>
    </p:spTree>
    <p:extLst>
      <p:ext uri="{BB962C8B-B14F-4D97-AF65-F5344CB8AC3E}">
        <p14:creationId xmlns:p14="http://schemas.microsoft.com/office/powerpoint/2010/main" val="1059645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EF3AF69-7D8A-42CA-86F7-161B8E4B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553DD49-0464-41CA-A606-B7A1B10B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E01ADA1-E6A9-444A-8A50-DE6F6D55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C2AE4CA-2FEC-4790-9C69-48E19BE6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5A3648B-C45C-4AB8-8ADE-CA1CDC03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4365A10-DD3B-4CC0-AEDF-926DF21A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NUESTRA SOLUCIÓN</a:t>
            </a:r>
          </a:p>
        </p:txBody>
      </p:sp>
      <p:sp>
        <p:nvSpPr>
          <p:cNvPr id="28" name="TextBox 10">
            <a:extLst xmlns:a="http://schemas.openxmlformats.org/drawingml/2006/main">
              <a:ext uri="{FF2B5EF4-FFF2-40B4-BE49-F238E27FC236}">
                <a16:creationId xmlns:a16="http://schemas.microsoft.com/office/drawing/2014/main" id="{9144D753-9F7A-5481-3AB5-DF98BA99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68811"/>
            <a:ext cx="96012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Penkay conecta satélite, evidencia de campo y trazabilidad en una sola plataforma</a:t>
            </a:r>
            <a:endParaRPr sz="1100" b="0" i="0">
              <a:solidFill>
                <a:srgbClr val="646E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86814F-2F99-460E-B98E-30BF98A0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GreenTrace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3ED20-1520-488D-BC11-B3F1AF8A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Sentinel-1 y Sentinel-2 observan humedad, cobertura y vigor. El dron aporta calibración periódica.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CDD6B7-0923-4C1F-8E41-99EE8A1A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Captura móvil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86524A-A31C-47D9-BC4C-95C90D86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Las fotografías geolocalizadas unen la observación del productor con la parcela y su historial.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A186A-0570-4C08-97E2-D768DECF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IA y trazabilidad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D547AF-4E24-477A-B40E-0DCB672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Python y YOLO apoyarán la detección de estrés. QR, PDF y hash mantienen el origen de cada reporte.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cf721571411d"/>
          <a:stretch xmlns:a="http://schemas.openxmlformats.org/drawingml/2006/main"/>
        </p:blipFill>
        <p:spPr>
          <a:xfrm xmlns:a="http://schemas.openxmlformats.org/drawingml/2006/main">
            <a:off x="3667125" y="2049060"/>
            <a:ext cx="8001000" cy="4502955"/>
          </a:xfrm>
          <a:prstGeom xmlns:a="http://schemas.openxmlformats.org/drawingml/2006/main" prst="roundRect">
            <a:avLst>
              <a:gd name="adj" fmla="val 2537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E234FC-9644-4B66-8BD8-0BE17AF4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Estado actual: prototipo frontend funcional. La autenticación, API, persistencia e integraciones de datos reales corresponden a la siguiente fase.</a:t>
            </a:r>
          </a:p>
        </p:txBody>
      </p:sp>
    </p:spTree>
    <p:extLst>
      <p:ext uri="{BB962C8B-B14F-4D97-AF65-F5344CB8AC3E}">
        <p14:creationId xmlns:p14="http://schemas.microsoft.com/office/powerpoint/2010/main" val="2128704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8BDCF2-2A46-4DBB-B6E5-771815EB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3F593E9-1547-4826-A59D-252BD81D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4278619-FBC0-424E-A3C7-5D70F146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B723BAF-90F8-4E04-B31E-DCEF5DE4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3EC5334-A3E6-42C4-818D-9935957F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A4A86BA-BC62-4177-8BCB-9C53EA0B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VIABILIDAD DE LA SOLUCIÓN</a:t>
            </a:r>
          </a:p>
        </p:txBody>
      </p:sp>
      <p:sp>
        <p:nvSpPr>
          <p:cNvPr id="44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F04FB6-A6AD-19A3-419E-45B96FE2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68811"/>
            <a:ext cx="96012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Tecnología abierta, validación en territorio y un equipo multidisciplinario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bbb1a33914574"/>
          <a:srcRect xmlns:a="http://schemas.openxmlformats.org/drawingml/2006/main" l="0" t="57" r="0" b="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47875"/>
            <a:ext cx="5286375" cy="29718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4ff56d9e34819"/>
          <a:srcRect xmlns:a="http://schemas.openxmlformats.org/drawingml/2006/main" l="0" t="57" r="0" b="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72225" y="2047875"/>
            <a:ext cx="5286375" cy="29718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777E13-27E8-4E52-9A47-639615ED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58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585C"/>
                </a:solidFill>
                <a:latin typeface="Aptos"/>
                <a:ea typeface="Aptos"/>
                <a:cs typeface="Aptos"/>
              </a:rPr>
              <a:t>Calibración de alta resolución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6BD8B3-678A-42F4-BF5E-951BCB67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1492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58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585C"/>
                </a:solidFill>
                <a:latin typeface="Aptos"/>
                <a:ea typeface="Aptos"/>
                <a:cs typeface="Aptos"/>
              </a:rPr>
              <a:t>Validación con conocimiento local y académico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1FA5B7-FFE3-46B6-BBD0-182105FA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41D9C3-3F9E-4C85-AB7D-21CB9800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483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rPr>
              <a:t>USD 4.449,50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584E80-B256-4FCA-98B7-B17C1703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674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inversión total estimada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A2962E-22C4-4343-93B6-C410664E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6483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270 horas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4A7DFC-C87B-42F5-8AAA-3E0F4B3D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0674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cinco perfiles especializados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D36FB4-24EC-4DEA-B7B0-CAB44F97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483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USD 81 a 182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9BDF07-1ACF-48D8-86E9-66CC4FAE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0674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operación mensual estimada</a:t>
            </a:r>
          </a:p>
        </p:txBody>
      </p:sp>
    </p:spTree>
    <p:extLst>
      <p:ext uri="{BB962C8B-B14F-4D97-AF65-F5344CB8AC3E}">
        <p14:creationId xmlns:p14="http://schemas.microsoft.com/office/powerpoint/2010/main" val="1134059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8962E9-41DE-4BE8-85D7-35E23703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F965581-F6BE-4B76-A00A-7A683450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241CC7-ED4E-4EAC-A005-0E0D3C95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EBF919F-B91E-4742-89F1-6BC2AE44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56B48F8-B88A-4424-8B3C-7D108565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7AE6FA1-54CD-41B3-AA4A-37E08167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TIME TO MARKET</a:t>
            </a:r>
            <a:endParaRPr sz="2700" b="1" i="0">
              <a:solidFill>
                <a:srgbClr val="1F585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4" name="TextBox 10">
            <a:extLst xmlns:a="http://schemas.openxmlformats.org/drawingml/2006/main">
              <a:ext uri="{FF2B5EF4-FFF2-40B4-BE49-F238E27FC236}">
                <a16:creationId xmlns:a16="http://schemas.microsoft.com/office/drawing/2014/main" id="{19918613-80AB-7630-E1CB-305A5C67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68810"/>
            <a:ext cx="96012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Seis semanas hasta una primera validación técnica y de campo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376D79-9000-4449-9038-461265CB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rPr>
              <a:t>6 semanas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7945DC-277B-4DDE-83E0-5666DE13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C91C82-3B9E-4AA7-A9A6-31092232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3ABD2A-3FB7-450F-80DA-76CB2EB8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Planificación y diseño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94420E-E344-4B3D-B76C-72DE692E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5307A6-C62B-470E-81CF-2CAF99A5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327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1EA2A4-9EEC-4138-B5F1-C0E652C2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6232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Desarrollo base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5375CB-53EB-44F9-86F4-515FB134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3112F0-41D9-4112-936A-71D67394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0E61A9-B8A6-4B67-9DAD-3F1E08E3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GIS, Sentinel y procesamiento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B9E24B-158C-4CC4-9DEE-B03FBFDB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144125-A757-4440-81D6-39EA00F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CBBEAD-566E-4F65-81B4-233995F3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7197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Captura, dashboard y reportes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6D1588-FD81-4B1C-BA2C-351D74B7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E45688-8E6A-4370-B5C8-A56B970D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C4C3C5-2888-4460-80DE-B26B319D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Pruebas y validación de campo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E62992-F5A9-43B2-B1E6-AF4B9554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480A28-372C-4004-BCC6-4CAA9F02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85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586679-7277-4DB2-ACF5-49A8A43D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8162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Ajustes y documentación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6c632eee740cc"/>
          <a:stretch xmlns:a="http://schemas.openxmlformats.org/drawingml/2006/main"/>
        </p:blipFill>
        <p:spPr>
          <a:xfrm xmlns:a="http://schemas.openxmlformats.org/drawingml/2006/main">
            <a:off x="5334000" y="2096936"/>
            <a:ext cx="6324600" cy="3559479"/>
          </a:xfrm>
          <a:prstGeom xmlns:a="http://schemas.openxmlformats.org/drawingml/2006/main" prst="roundRect">
            <a:avLst>
              <a:gd name="adj" fmla="val 3209"/>
            </a:avLst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603019-D592-46FE-8769-343A275B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10250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Fase posterior al MVP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BB3643-2DD3-4DFB-814B-FF26FD23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96000"/>
            <a:ext cx="632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La evidencia geolocalizada permitirá entrenar y validar modelos YOLO antes de automatizar alertas.</a:t>
            </a:r>
          </a:p>
        </p:txBody>
      </p:sp>
    </p:spTree>
    <p:extLst>
      <p:ext uri="{BB962C8B-B14F-4D97-AF65-F5344CB8AC3E}">
        <p14:creationId xmlns:p14="http://schemas.microsoft.com/office/powerpoint/2010/main" val="665226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124864-712C-43AC-9460-A47EBD20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2E4E83B-7975-4B79-99BA-0925DE4E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B4E0006-77C2-40F4-AC76-AB77AD08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622AFE1-DC2F-4335-BE7A-A6EF3BC7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CE4235-92DC-4104-BE1D-381F1DAB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BF589C-1333-47BD-84B0-8DA6915C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IMPACTO QUE PODEMOS GENERAR</a:t>
            </a:r>
          </a:p>
        </p:txBody>
      </p:sp>
      <p:sp>
        <p:nvSpPr>
          <p:cNvPr id="44" name="TextBox 10">
            <a:extLst xmlns:a="http://schemas.openxmlformats.org/drawingml/2006/main">
              <a:ext uri="{FF2B5EF4-FFF2-40B4-BE49-F238E27FC236}">
                <a16:creationId xmlns:a16="http://schemas.microsoft.com/office/drawing/2014/main" id="{4D5BBDFC-5872-C4DB-329D-580E3B66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68811"/>
            <a:ext cx="96012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Metas verificables para el piloto en parcelas de Carchi</a:t>
            </a:r>
            <a:endParaRPr sz="1100">
              <a:solidFill>
                <a:srgbClr val="646E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3733DA-DCFC-46CB-8D78-0A5839B0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rPr>
              <a:t>10+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C050C5-B7E6-4ED1-A9CD-4E554C3D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parcelas georreferenciadas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D44587-410F-446B-94DC-64C24679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200+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599BD3-9D4C-4CBF-B6E4-D8F03727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fotografías georreferenciadas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B720F8-A3E4-42E8-BF0F-E019031A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100 %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69A0C2-8024-437E-9DA8-96BE0675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de reportes con hash verificable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8c68389b24e4e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2047875"/>
            <a:ext cx="6715125" cy="3781425"/>
          </a:xfrm>
          <a:prstGeom xmlns:a="http://schemas.openxmlformats.org/drawingml/2006/main" prst="roundRect">
            <a:avLst>
              <a:gd name="adj" fmla="val 3023"/>
            </a:avLst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B41E73-FAC5-4584-ABFE-F224F293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43600"/>
            <a:ext cx="671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8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85C"/>
                </a:solidFill>
                <a:latin typeface="Aptos"/>
                <a:ea typeface="Aptos"/>
                <a:cs typeface="Aptos"/>
              </a:rPr>
              <a:t>Indicadores: NDVI, SAVI, humedad, biomasa, carbono del suelo y erosión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CA8FEC-1CAF-44A3-BAEB-BC91E73A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73"/>
                </a:solidFill>
                <a:latin typeface="Aptos"/>
                <a:ea typeface="Aptos"/>
                <a:cs typeface="Aptos"/>
              </a:rPr>
              <a:t>El carbono se reportará como estimación hasta completar calibración local. No equivale a un crédito certificado.</a:t>
            </a:r>
          </a:p>
        </p:txBody>
      </p:sp>
    </p:spTree>
    <p:extLst>
      <p:ext uri="{BB962C8B-B14F-4D97-AF65-F5344CB8AC3E}">
        <p14:creationId xmlns:p14="http://schemas.microsoft.com/office/powerpoint/2010/main" val="1247263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509496E-4C6C-4042-A85B-9FE76A12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A9BDE01-98F9-4075-A3D3-5E03A86F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0"/>
            <a:ext cx="2910535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44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3852165-85A7-401F-B897-874A6AA8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3152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E89E36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4B49254-268F-4617-8F4F-87898858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566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58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6C3B40E-95AA-4890-8016-DD2536DC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24F9C8B-7E4E-4A6B-BFB0-B5661971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04672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CIERRE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1AFC50B-0EA3-42C4-9589-A3533467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25880"/>
            <a:ext cx="9601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0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07073"/>
                </a:solidFill>
                <a:latin typeface="Aptos"/>
                <a:ea typeface="Aptos"/>
                <a:cs typeface="Aptos"/>
              </a:rPr>
              <a:t>Una red de evidencia compartida entre productores, comunidad y academia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C30DC-CD44-43BB-A51F-03966AFC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4048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Penkay convierte cada parcela en evidencia compartida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DB70D-55B5-4CD4-B274-8D2CF216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3857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446"/>
                </a:solidFill>
                <a:latin typeface="Aptos"/>
                <a:ea typeface="Aptos"/>
                <a:cs typeface="Aptos"/>
              </a:rPr>
              <a:t>Los productores registran evidencia. La academia valida los métodos. La comunidad aprende y participa en las decisiones.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FC8E7-3B36-47D8-A5DD-1C94DF2F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E3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4CCF2-979A-459B-B66F-D6E59E23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89E36"/>
                </a:solidFill>
                <a:latin typeface="Aptos Display"/>
                <a:ea typeface="Aptos Display"/>
                <a:cs typeface="Aptos Display"/>
              </a:rPr>
              <a:t>Próximo paso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EEBEE-65FC-43B5-AFA2-8FA7E730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4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4446"/>
                </a:solidFill>
                <a:latin typeface="Aptos"/>
                <a:ea typeface="Aptos"/>
                <a:cs typeface="Aptos"/>
              </a:rPr>
              <a:t>Validar el piloto en 10 parcelas de Carchi y sustituir los datos demostrativos por servicios persistentes y auditables.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c12ada87f4945"/>
          <a:stretch xmlns:a="http://schemas.openxmlformats.org/drawingml/2006/main"/>
        </p:blipFill>
        <p:spPr>
          <a:xfrm xmlns:a="http://schemas.openxmlformats.org/drawingml/2006/main">
            <a:off x="4762748" y="2000250"/>
            <a:ext cx="6905129" cy="38862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B531D-2E38-43AD-806A-F2B8E8AC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57900"/>
            <a:ext cx="690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F585C"/>
                </a:solidFill>
                <a:latin typeface="Aptos Display"/>
                <a:ea typeface="Aptos Display"/>
                <a:cs typeface="Aptos Display"/>
              </a:rPr>
              <a:t>TERRA AVENTURE</a:t>
            </a:r>
          </a:p>
        </p:txBody>
      </p:sp>
    </p:spTree>
    <p:extLst>
      <p:ext uri="{BB962C8B-B14F-4D97-AF65-F5344CB8AC3E}">
        <p14:creationId xmlns:p14="http://schemas.microsoft.com/office/powerpoint/2010/main" val="8898943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2026-09-04T17:28:25.8510000Z</dcterms:created>
  <dcterms:modified xsi:type="dcterms:W3CDTF">2026-09-04T17:28:25.8510000Z</dcterms:modified>
</coreProperties>
</file>