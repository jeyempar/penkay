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62" r:id="rId2"/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CA3926-DB1C-4974-8D22-75872A506679}" type="datetimeFigureOut">
              <a:rPr lang="es-CO" smtClean="0"/>
              <a:t>4/09/2026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88B6E2-7FFD-47E6-BA07-72544FDD51B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20933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21af1c34f7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ES"/>
          </a:p>
        </p:txBody>
      </p:sp>
      <p:sp>
        <p:nvSpPr>
          <p:cNvPr id="53" name="Google Shape;53;g321af1c34f7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bg>
      <p:bgPr>
        <a:solidFill>
          <a:schemeClr val="lt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3E494A"/>
              </a:buClr>
              <a:buSzPts val="2800"/>
              <a:buFont typeface="Barlow SemiBold"/>
              <a:buNone/>
              <a:defRPr>
                <a:solidFill>
                  <a:srgbClr val="3E494A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Clr>
                <a:srgbClr val="1F5D5F"/>
              </a:buClr>
              <a:buSzPts val="1800"/>
              <a:buFont typeface="Barlow"/>
              <a:buChar char="●"/>
              <a:defRPr>
                <a:solidFill>
                  <a:srgbClr val="1F5D5F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Clr>
                <a:srgbClr val="1F5D5F"/>
              </a:buClr>
              <a:buSzPts val="1400"/>
              <a:buFont typeface="Barlow"/>
              <a:buChar char="○"/>
              <a:defRPr>
                <a:solidFill>
                  <a:srgbClr val="1F5D5F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Clr>
                <a:srgbClr val="1F5D5F"/>
              </a:buClr>
              <a:buSzPts val="1400"/>
              <a:buFont typeface="Barlow"/>
              <a:buChar char="■"/>
              <a:defRPr>
                <a:solidFill>
                  <a:srgbClr val="1F5D5F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Clr>
                <a:srgbClr val="1F5D5F"/>
              </a:buClr>
              <a:buSzPts val="1400"/>
              <a:buFont typeface="Barlow"/>
              <a:buChar char="●"/>
              <a:defRPr>
                <a:solidFill>
                  <a:srgbClr val="1F5D5F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Clr>
                <a:srgbClr val="1F5D5F"/>
              </a:buClr>
              <a:buSzPts val="1400"/>
              <a:buFont typeface="Barlow"/>
              <a:buChar char="○"/>
              <a:defRPr>
                <a:solidFill>
                  <a:srgbClr val="1F5D5F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Clr>
                <a:srgbClr val="1F5D5F"/>
              </a:buClr>
              <a:buSzPts val="1400"/>
              <a:buFont typeface="Barlow"/>
              <a:buChar char="■"/>
              <a:defRPr>
                <a:solidFill>
                  <a:srgbClr val="1F5D5F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Clr>
                <a:srgbClr val="1F5D5F"/>
              </a:buClr>
              <a:buSzPts val="1400"/>
              <a:buFont typeface="Barlow"/>
              <a:buChar char="●"/>
              <a:defRPr>
                <a:solidFill>
                  <a:srgbClr val="1F5D5F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Clr>
                <a:srgbClr val="1F5D5F"/>
              </a:buClr>
              <a:buSzPts val="1400"/>
              <a:buFont typeface="Barlow"/>
              <a:buChar char="○"/>
              <a:defRPr>
                <a:solidFill>
                  <a:srgbClr val="1F5D5F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Clr>
                <a:srgbClr val="1F5D5F"/>
              </a:buClr>
              <a:buSzPts val="1400"/>
              <a:buFont typeface="Barlow"/>
              <a:buChar char="■"/>
              <a:defRPr>
                <a:solidFill>
                  <a:srgbClr val="1F5D5F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200728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/>
          <p:nvPr/>
        </p:nvSpPr>
        <p:spPr>
          <a:xfrm>
            <a:off x="0" y="0"/>
            <a:ext cx="2979600" cy="6858000"/>
          </a:xfrm>
          <a:prstGeom prst="rect">
            <a:avLst/>
          </a:prstGeom>
          <a:solidFill>
            <a:srgbClr val="1F5D5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 dirty="0"/>
          </a:p>
        </p:txBody>
      </p:sp>
      <p:sp>
        <p:nvSpPr>
          <p:cNvPr id="56" name="Google Shape;56;p13"/>
          <p:cNvSpPr/>
          <p:nvPr/>
        </p:nvSpPr>
        <p:spPr>
          <a:xfrm>
            <a:off x="2901200" y="0"/>
            <a:ext cx="9290800" cy="6858000"/>
          </a:xfrm>
          <a:prstGeom prst="rect">
            <a:avLst/>
          </a:prstGeom>
          <a:solidFill>
            <a:srgbClr val="F6F8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609585" indent="-423323" algn="ctr">
              <a:buSzPts val="1400"/>
              <a:buChar char="●"/>
            </a:pPr>
            <a:endParaRPr sz="2400" dirty="0"/>
          </a:p>
        </p:txBody>
      </p:sp>
      <p:sp>
        <p:nvSpPr>
          <p:cNvPr id="57" name="Google Shape;57;p13"/>
          <p:cNvSpPr txBox="1">
            <a:spLocks noGrp="1"/>
          </p:cNvSpPr>
          <p:nvPr>
            <p:ph type="ctrTitle" idx="4294967295"/>
          </p:nvPr>
        </p:nvSpPr>
        <p:spPr>
          <a:xfrm>
            <a:off x="3241500" y="1708001"/>
            <a:ext cx="8343600" cy="1573665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lvl="0" algn="ctr"/>
            <a:r>
              <a:rPr lang="en-US" sz="6000" b="1" dirty="0"/>
              <a:t>Hackathon Colombia</a:t>
            </a:r>
            <a:endParaRPr sz="6000" b="1" dirty="0"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9" name="Google Shape;59;p13"/>
          <p:cNvSpPr txBox="1">
            <a:spLocks noGrp="1"/>
          </p:cNvSpPr>
          <p:nvPr>
            <p:ph type="ctrTitle" idx="4294967295"/>
          </p:nvPr>
        </p:nvSpPr>
        <p:spPr>
          <a:xfrm>
            <a:off x="3047600" y="3663367"/>
            <a:ext cx="8919600" cy="2080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169329">
              <a:buClr>
                <a:srgbClr val="1F5D5F"/>
              </a:buClr>
              <a:buSzPts val="1600"/>
            </a:pPr>
            <a:r>
              <a:rPr lang="es-ES" sz="2133" b="1" dirty="0">
                <a:solidFill>
                  <a:srgbClr val="1F5D5F"/>
                </a:solidFill>
                <a:latin typeface="Barlow"/>
                <a:ea typeface="Barlow"/>
                <a:cs typeface="Barlow"/>
                <a:sym typeface="Barlow"/>
              </a:rPr>
              <a:t>Proyecto STRATEGIC LEADERSHIP IN GREEN BUSINESS</a:t>
            </a:r>
            <a:br>
              <a:rPr lang="es-ES" sz="2133" b="1" dirty="0">
                <a:solidFill>
                  <a:srgbClr val="1F5D5F"/>
                </a:solidFill>
                <a:latin typeface="Barlow"/>
                <a:ea typeface="Barlow"/>
                <a:cs typeface="Barlow"/>
                <a:sym typeface="Barlow"/>
              </a:rPr>
            </a:br>
            <a:br>
              <a:rPr lang="es-ES" sz="2133" b="1" dirty="0">
                <a:solidFill>
                  <a:srgbClr val="1F5D5F"/>
                </a:solidFill>
                <a:latin typeface="Barlow"/>
                <a:ea typeface="Barlow"/>
                <a:cs typeface="Barlow"/>
                <a:sym typeface="Barlow"/>
              </a:rPr>
            </a:br>
            <a:r>
              <a:rPr lang="es-ES" sz="2133" b="1" dirty="0">
                <a:solidFill>
                  <a:srgbClr val="1F5D5F"/>
                </a:solidFill>
                <a:latin typeface="Barlow"/>
                <a:ea typeface="Barlow"/>
                <a:cs typeface="Barlow"/>
                <a:sym typeface="Barlow"/>
              </a:rPr>
              <a:t>Integrantes:</a:t>
            </a:r>
            <a:br>
              <a:rPr lang="es-ES" sz="2133" b="1" dirty="0">
                <a:solidFill>
                  <a:srgbClr val="1F5D5F"/>
                </a:solidFill>
                <a:latin typeface="Barlow"/>
                <a:ea typeface="Barlow"/>
                <a:cs typeface="Barlow"/>
                <a:sym typeface="Barlow"/>
              </a:rPr>
            </a:br>
            <a:r>
              <a:rPr lang="es-ES" sz="2133" b="1" dirty="0">
                <a:solidFill>
                  <a:srgbClr val="1F5D5F"/>
                </a:solidFill>
                <a:latin typeface="Barlow"/>
                <a:ea typeface="Barlow"/>
                <a:cs typeface="Barlow"/>
                <a:sym typeface="Barlow"/>
              </a:rPr>
              <a:t>Empresa y Reto:</a:t>
            </a:r>
            <a:br>
              <a:rPr lang="es-ES" sz="2133" b="1" dirty="0">
                <a:solidFill>
                  <a:srgbClr val="1F5D5F"/>
                </a:solidFill>
                <a:latin typeface="Barlow"/>
                <a:ea typeface="Barlow"/>
                <a:cs typeface="Barlow"/>
                <a:sym typeface="Barlow"/>
              </a:rPr>
            </a:br>
            <a:br>
              <a:rPr lang="es-ES" sz="2133" b="1" dirty="0">
                <a:solidFill>
                  <a:srgbClr val="1F5D5F"/>
                </a:solidFill>
                <a:latin typeface="Barlow"/>
                <a:ea typeface="Barlow"/>
                <a:cs typeface="Barlow"/>
                <a:sym typeface="Barlow"/>
              </a:rPr>
            </a:br>
            <a:r>
              <a:rPr lang="en-US" sz="2133" b="1" dirty="0">
                <a:solidFill>
                  <a:srgbClr val="1F5D5F"/>
                </a:solidFill>
                <a:latin typeface="Barlow"/>
              </a:rPr>
              <a:t>3 y 4 de </a:t>
            </a:r>
            <a:r>
              <a:rPr lang="en-US" sz="2133" b="1" dirty="0" err="1">
                <a:solidFill>
                  <a:srgbClr val="1F5D5F"/>
                </a:solidFill>
                <a:latin typeface="Barlow"/>
              </a:rPr>
              <a:t>septiembre</a:t>
            </a:r>
            <a:r>
              <a:rPr lang="en-US" sz="2133" b="1" dirty="0">
                <a:solidFill>
                  <a:srgbClr val="1F5D5F"/>
                </a:solidFill>
                <a:latin typeface="Barlow"/>
              </a:rPr>
              <a:t> de 2026</a:t>
            </a:r>
            <a:br>
              <a:rPr lang="en-US" sz="2133" b="1" dirty="0">
                <a:solidFill>
                  <a:srgbClr val="1F5D5F"/>
                </a:solidFill>
                <a:latin typeface="Barlow"/>
              </a:rPr>
            </a:br>
            <a:r>
              <a:rPr lang="en-US" sz="2133" b="1" dirty="0">
                <a:solidFill>
                  <a:srgbClr val="1F5D5F"/>
                </a:solidFill>
                <a:latin typeface="Barlow"/>
              </a:rPr>
              <a:t>Universidad de la Costa</a:t>
            </a:r>
            <a:endParaRPr sz="2133" b="1" dirty="0">
              <a:solidFill>
                <a:srgbClr val="1F5D5F"/>
              </a:solidFill>
              <a:latin typeface="Barlow"/>
              <a:sym typeface="Barlow"/>
            </a:endParaRPr>
          </a:p>
          <a:p>
            <a:pPr marL="609585" algn="l">
              <a:spcBef>
                <a:spcPts val="0"/>
              </a:spcBef>
            </a:pPr>
            <a:endParaRPr sz="3467" b="1" dirty="0">
              <a:solidFill>
                <a:srgbClr val="1F5D5F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609585" indent="-524920" algn="l">
              <a:spcBef>
                <a:spcPts val="0"/>
              </a:spcBef>
              <a:buClr>
                <a:srgbClr val="1D7E75"/>
              </a:buClr>
              <a:buSzPts val="2600"/>
              <a:buFont typeface="Barlow"/>
              <a:buChar char="●"/>
            </a:pPr>
            <a:endParaRPr sz="3467" b="1" dirty="0">
              <a:solidFill>
                <a:srgbClr val="1F5D5F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pic>
        <p:nvPicPr>
          <p:cNvPr id="60" name="Google Shape;60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56800" y="5966133"/>
            <a:ext cx="3339221" cy="692067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3"/>
          <p:cNvSpPr txBox="1"/>
          <p:nvPr/>
        </p:nvSpPr>
        <p:spPr>
          <a:xfrm>
            <a:off x="424400" y="5864533"/>
            <a:ext cx="2130800" cy="49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>
              <a:buClr>
                <a:schemeClr val="dk1"/>
              </a:buClr>
              <a:buSzPts val="1100"/>
            </a:pPr>
            <a:r>
              <a:rPr lang="es" sz="16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P. Code: </a:t>
            </a:r>
            <a:r>
              <a:rPr lang="es" sz="16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101179307</a:t>
            </a: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  <a:p>
            <a:endParaRPr sz="2400">
              <a:solidFill>
                <a:schemeClr val="dk2"/>
              </a:solidFill>
            </a:endParaRPr>
          </a:p>
        </p:txBody>
      </p:sp>
      <p:cxnSp>
        <p:nvCxnSpPr>
          <p:cNvPr id="62" name="Google Shape;62;p13"/>
          <p:cNvCxnSpPr/>
          <p:nvPr/>
        </p:nvCxnSpPr>
        <p:spPr>
          <a:xfrm rot="10800000" flipH="1">
            <a:off x="4785800" y="3417400"/>
            <a:ext cx="5443200" cy="23200"/>
          </a:xfrm>
          <a:prstGeom prst="straightConnector1">
            <a:avLst/>
          </a:prstGeom>
          <a:noFill/>
          <a:ln w="19050" cap="flat" cmpd="sng">
            <a:solidFill>
              <a:srgbClr val="1F5D5F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3" name="Google Shape;63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8884" y="1708002"/>
            <a:ext cx="1821835" cy="3441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5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281160" y="0"/>
            <a:ext cx="2910535" cy="621792"/>
          </a:xfrm>
          <a:prstGeom prst="roundRect">
            <a:avLst/>
          </a:prstGeom>
          <a:solidFill>
            <a:srgbClr val="394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46920" y="73152"/>
            <a:ext cx="21945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E89E36"/>
                </a:solidFill>
                <a:latin typeface="Aptos"/>
              </a:rPr>
              <a:t>HACKATHON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320040"/>
            <a:ext cx="566928" cy="384048"/>
          </a:xfrm>
          <a:prstGeom prst="roundRect">
            <a:avLst/>
          </a:prstGeom>
          <a:solidFill>
            <a:srgbClr val="1F5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329184"/>
            <a:ext cx="56692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804672"/>
            <a:ext cx="8138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 i="0">
                <a:solidFill>
                  <a:srgbClr val="1F585C"/>
                </a:solidFill>
                <a:latin typeface="Aptos Display"/>
              </a:rPr>
              <a:t>EL PROBLEMA</a:t>
            </a:r>
          </a:p>
        </p:txBody>
      </p:sp>
      <p:sp>
        <p:nvSpPr>
          <p:cNvPr id="28" name="TextBox 10">
            <a:extLst>
              <a:ext uri="{FF2B5EF4-FFF2-40B4-BE49-F238E27FC236}">
                <a16:creationId xmlns:a16="http://schemas.microsoft.com/office/drawing/2014/main" id="{81E85391-FD12-A2BD-640B-DB395D1A2656}"/>
              </a:ext>
            </a:extLst>
          </p:cNvPr>
          <p:cNvSpPr txBox="1"/>
          <p:nvPr/>
        </p:nvSpPr>
        <p:spPr>
          <a:xfrm>
            <a:off x="530352" y="1368811"/>
            <a:ext cx="960120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s-CO" sz="1100" dirty="0"/>
              <a:t>Comprensión y cuantificación del problema</a:t>
            </a:r>
            <a:endParaRPr sz="1100" b="0" i="0" dirty="0">
              <a:solidFill>
                <a:srgbClr val="646E7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5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281160" y="0"/>
            <a:ext cx="2910535" cy="621792"/>
          </a:xfrm>
          <a:prstGeom prst="roundRect">
            <a:avLst/>
          </a:prstGeom>
          <a:solidFill>
            <a:srgbClr val="394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46920" y="73152"/>
            <a:ext cx="21945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E89E36"/>
                </a:solidFill>
                <a:latin typeface="Aptos"/>
              </a:rPr>
              <a:t>HACKATHON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320040"/>
            <a:ext cx="566928" cy="384048"/>
          </a:xfrm>
          <a:prstGeom prst="roundRect">
            <a:avLst/>
          </a:prstGeom>
          <a:solidFill>
            <a:srgbClr val="1F5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329184"/>
            <a:ext cx="56692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804672"/>
            <a:ext cx="8138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 i="0">
                <a:solidFill>
                  <a:srgbClr val="1F585C"/>
                </a:solidFill>
                <a:latin typeface="Aptos Display"/>
              </a:rPr>
              <a:t>NUESTRA SOLUCIÓN</a:t>
            </a:r>
          </a:p>
        </p:txBody>
      </p:sp>
      <p:sp>
        <p:nvSpPr>
          <p:cNvPr id="28" name="TextBox 10">
            <a:extLst>
              <a:ext uri="{FF2B5EF4-FFF2-40B4-BE49-F238E27FC236}">
                <a16:creationId xmlns:a16="http://schemas.microsoft.com/office/drawing/2014/main" id="{9144D753-9F7A-5481-3AB5-DF98BA99FD81}"/>
              </a:ext>
            </a:extLst>
          </p:cNvPr>
          <p:cNvSpPr txBox="1"/>
          <p:nvPr/>
        </p:nvSpPr>
        <p:spPr>
          <a:xfrm>
            <a:off x="530352" y="1368811"/>
            <a:ext cx="960120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s-CO" sz="1100" dirty="0"/>
              <a:t>Grado de innovación, diferenciación y creatividad</a:t>
            </a:r>
            <a:endParaRPr sz="1100" b="0" i="0" dirty="0">
              <a:solidFill>
                <a:srgbClr val="646E7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5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281160" y="0"/>
            <a:ext cx="2910535" cy="621792"/>
          </a:xfrm>
          <a:prstGeom prst="roundRect">
            <a:avLst/>
          </a:prstGeom>
          <a:solidFill>
            <a:srgbClr val="394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46920" y="73152"/>
            <a:ext cx="21945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E89E36"/>
                </a:solidFill>
                <a:latin typeface="Aptos"/>
              </a:rPr>
              <a:t>HACKATHON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320040"/>
            <a:ext cx="566928" cy="384048"/>
          </a:xfrm>
          <a:prstGeom prst="roundRect">
            <a:avLst/>
          </a:prstGeom>
          <a:solidFill>
            <a:srgbClr val="1F5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329184"/>
            <a:ext cx="56692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804672"/>
            <a:ext cx="8138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s-CO" sz="2700" b="1" i="0" dirty="0">
                <a:solidFill>
                  <a:srgbClr val="1F585C"/>
                </a:solidFill>
                <a:latin typeface="Aptos Display"/>
              </a:rPr>
              <a:t>VIABILIDAD DE LA </a:t>
            </a:r>
            <a:r>
              <a:rPr sz="2700" b="1" i="0" dirty="0">
                <a:solidFill>
                  <a:srgbClr val="1F585C"/>
                </a:solidFill>
                <a:latin typeface="Aptos Display"/>
              </a:rPr>
              <a:t>SOLUCIÓN</a:t>
            </a:r>
          </a:p>
        </p:txBody>
      </p:sp>
      <p:sp>
        <p:nvSpPr>
          <p:cNvPr id="44" name="TextBox 10">
            <a:extLst>
              <a:ext uri="{FF2B5EF4-FFF2-40B4-BE49-F238E27FC236}">
                <a16:creationId xmlns:a16="http://schemas.microsoft.com/office/drawing/2014/main" id="{A8F04FB6-A6AD-19A3-419E-45B96FE218CA}"/>
              </a:ext>
            </a:extLst>
          </p:cNvPr>
          <p:cNvSpPr txBox="1"/>
          <p:nvPr/>
        </p:nvSpPr>
        <p:spPr>
          <a:xfrm>
            <a:off x="530352" y="1368811"/>
            <a:ext cx="960120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s-CO" sz="1100" dirty="0"/>
              <a:t>Viabilidad Técnica y comercial de la solución. Escalabilidad (0-15ptos)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5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281160" y="0"/>
            <a:ext cx="2910535" cy="621792"/>
          </a:xfrm>
          <a:prstGeom prst="roundRect">
            <a:avLst/>
          </a:prstGeom>
          <a:solidFill>
            <a:srgbClr val="394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46920" y="73152"/>
            <a:ext cx="21945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E89E36"/>
                </a:solidFill>
                <a:latin typeface="Aptos"/>
              </a:rPr>
              <a:t>HACKATHON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320040"/>
            <a:ext cx="566928" cy="384048"/>
          </a:xfrm>
          <a:prstGeom prst="roundRect">
            <a:avLst/>
          </a:prstGeom>
          <a:solidFill>
            <a:srgbClr val="1F5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329184"/>
            <a:ext cx="56692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804672"/>
            <a:ext cx="8138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s-CO" sz="2700" b="1" i="0" dirty="0">
                <a:solidFill>
                  <a:srgbClr val="1F585C"/>
                </a:solidFill>
                <a:latin typeface="Aptos Display"/>
              </a:rPr>
              <a:t>TIME TO MARKET</a:t>
            </a:r>
            <a:endParaRPr sz="2700" b="1" i="0" dirty="0">
              <a:solidFill>
                <a:srgbClr val="1F585C"/>
              </a:solidFill>
              <a:latin typeface="Aptos Display"/>
            </a:endParaRPr>
          </a:p>
        </p:txBody>
      </p:sp>
      <p:sp>
        <p:nvSpPr>
          <p:cNvPr id="34" name="TextBox 10">
            <a:extLst>
              <a:ext uri="{FF2B5EF4-FFF2-40B4-BE49-F238E27FC236}">
                <a16:creationId xmlns:a16="http://schemas.microsoft.com/office/drawing/2014/main" id="{19918613-80AB-7630-E1CB-305A5C67ED5D}"/>
              </a:ext>
            </a:extLst>
          </p:cNvPr>
          <p:cNvSpPr txBox="1"/>
          <p:nvPr/>
        </p:nvSpPr>
        <p:spPr>
          <a:xfrm>
            <a:off x="530352" y="1368810"/>
            <a:ext cx="960120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s-ES" sz="1100" dirty="0"/>
              <a:t>Posibilidad de puesta en marcha. Time </a:t>
            </a:r>
            <a:r>
              <a:rPr lang="es-ES" sz="1100" dirty="0" err="1"/>
              <a:t>to</a:t>
            </a:r>
            <a:r>
              <a:rPr lang="es-ES" sz="1100" dirty="0"/>
              <a:t> </a:t>
            </a:r>
            <a:r>
              <a:rPr lang="es-ES" sz="1100" dirty="0" err="1"/>
              <a:t>market</a:t>
            </a:r>
            <a:r>
              <a:rPr lang="es-ES" sz="1100" dirty="0"/>
              <a:t> (0-10ptos)	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5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281160" y="0"/>
            <a:ext cx="2910535" cy="621792"/>
          </a:xfrm>
          <a:prstGeom prst="roundRect">
            <a:avLst/>
          </a:prstGeom>
          <a:solidFill>
            <a:srgbClr val="394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46920" y="73152"/>
            <a:ext cx="21945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E89E36"/>
                </a:solidFill>
                <a:latin typeface="Aptos"/>
              </a:rPr>
              <a:t>HACKATHON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320040"/>
            <a:ext cx="566928" cy="384048"/>
          </a:xfrm>
          <a:prstGeom prst="roundRect">
            <a:avLst/>
          </a:prstGeom>
          <a:solidFill>
            <a:srgbClr val="1F5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329184"/>
            <a:ext cx="56692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804672"/>
            <a:ext cx="8138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s-CO" sz="2700" b="1" dirty="0">
                <a:solidFill>
                  <a:srgbClr val="1F585C"/>
                </a:solidFill>
                <a:latin typeface="Aptos Display"/>
              </a:rPr>
              <a:t>IMPACTO QUE PODEMOS GENERAR</a:t>
            </a:r>
          </a:p>
        </p:txBody>
      </p:sp>
      <p:sp>
        <p:nvSpPr>
          <p:cNvPr id="44" name="TextBox 10">
            <a:extLst>
              <a:ext uri="{FF2B5EF4-FFF2-40B4-BE49-F238E27FC236}">
                <a16:creationId xmlns:a16="http://schemas.microsoft.com/office/drawing/2014/main" id="{4D5BBDFC-5872-C4DB-329D-580E3B66DA44}"/>
              </a:ext>
            </a:extLst>
          </p:cNvPr>
          <p:cNvSpPr txBox="1"/>
          <p:nvPr/>
        </p:nvSpPr>
        <p:spPr>
          <a:xfrm>
            <a:off x="530352" y="1368811"/>
            <a:ext cx="960120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s-ES" sz="1100" dirty="0"/>
              <a:t>Triple impacto y ODS</a:t>
            </a:r>
            <a:endParaRPr lang="es-ES" sz="1100" dirty="0">
              <a:solidFill>
                <a:srgbClr val="646E7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5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281160" y="0"/>
            <a:ext cx="2910535" cy="621792"/>
          </a:xfrm>
          <a:prstGeom prst="roundRect">
            <a:avLst/>
          </a:prstGeom>
          <a:solidFill>
            <a:srgbClr val="394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46920" y="73152"/>
            <a:ext cx="21945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E89E36"/>
                </a:solidFill>
                <a:latin typeface="Aptos"/>
              </a:rPr>
              <a:t>HACKATHON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320040"/>
            <a:ext cx="566928" cy="384048"/>
          </a:xfrm>
          <a:prstGeom prst="roundRect">
            <a:avLst/>
          </a:prstGeom>
          <a:solidFill>
            <a:srgbClr val="1F5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329184"/>
            <a:ext cx="56692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804672"/>
            <a:ext cx="8138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 i="0" dirty="0">
                <a:solidFill>
                  <a:srgbClr val="1F585C"/>
                </a:solidFill>
                <a:latin typeface="Aptos Display"/>
              </a:rPr>
              <a:t>CIERRE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325880"/>
            <a:ext cx="96012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 dirty="0">
                <a:solidFill>
                  <a:srgbClr val="646E70"/>
                </a:solidFill>
                <a:latin typeface="Aptos"/>
              </a:rPr>
              <a:t>Termina con </a:t>
            </a:r>
            <a:r>
              <a:rPr sz="1100" b="0" i="0" dirty="0" err="1">
                <a:solidFill>
                  <a:srgbClr val="646E70"/>
                </a:solidFill>
                <a:latin typeface="Aptos"/>
              </a:rPr>
              <a:t>una</a:t>
            </a:r>
            <a:r>
              <a:rPr sz="1100" b="0" i="0" dirty="0">
                <a:solidFill>
                  <a:srgbClr val="646E70"/>
                </a:solidFill>
                <a:latin typeface="Aptos"/>
              </a:rPr>
              <a:t> idea </a:t>
            </a:r>
            <a:r>
              <a:rPr sz="1100" b="0" i="0" dirty="0" err="1">
                <a:solidFill>
                  <a:srgbClr val="646E70"/>
                </a:solidFill>
                <a:latin typeface="Aptos"/>
              </a:rPr>
              <a:t>que</a:t>
            </a:r>
            <a:r>
              <a:rPr sz="1100" b="0" i="0" dirty="0">
                <a:solidFill>
                  <a:srgbClr val="646E70"/>
                </a:solidFill>
                <a:latin typeface="Aptos"/>
              </a:rPr>
              <a:t> el </a:t>
            </a:r>
            <a:r>
              <a:rPr sz="1100" b="0" i="0" dirty="0" err="1">
                <a:solidFill>
                  <a:srgbClr val="646E70"/>
                </a:solidFill>
                <a:latin typeface="Aptos"/>
              </a:rPr>
              <a:t>jurado</a:t>
            </a:r>
            <a:r>
              <a:rPr sz="1100" b="0" i="0" dirty="0">
                <a:solidFill>
                  <a:srgbClr val="646E70"/>
                </a:solidFill>
                <a:latin typeface="Aptos"/>
              </a:rPr>
              <a:t> </a:t>
            </a:r>
            <a:r>
              <a:rPr sz="1100" b="0" i="0" dirty="0" err="1">
                <a:solidFill>
                  <a:srgbClr val="646E70"/>
                </a:solidFill>
                <a:latin typeface="Aptos"/>
              </a:rPr>
              <a:t>pueda</a:t>
            </a:r>
            <a:r>
              <a:rPr sz="1100" b="0" i="0" dirty="0">
                <a:solidFill>
                  <a:srgbClr val="646E70"/>
                </a:solidFill>
                <a:latin typeface="Aptos"/>
              </a:rPr>
              <a:t> </a:t>
            </a:r>
            <a:r>
              <a:rPr sz="1100" b="0" i="0" dirty="0" err="1">
                <a:solidFill>
                  <a:srgbClr val="646E70"/>
                </a:solidFill>
                <a:latin typeface="Aptos"/>
              </a:rPr>
              <a:t>recordar</a:t>
            </a:r>
            <a:r>
              <a:rPr sz="1100" b="0" i="0" dirty="0">
                <a:solidFill>
                  <a:srgbClr val="646E70"/>
                </a:solidFill>
                <a:latin typeface="Aptos"/>
              </a:rPr>
              <a:t> </a:t>
            </a:r>
            <a:r>
              <a:rPr sz="1100" b="0" i="0" dirty="0" err="1">
                <a:solidFill>
                  <a:srgbClr val="646E70"/>
                </a:solidFill>
                <a:latin typeface="Aptos"/>
              </a:rPr>
              <a:t>cuando</a:t>
            </a:r>
            <a:r>
              <a:rPr sz="1100" b="0" i="0" dirty="0">
                <a:solidFill>
                  <a:srgbClr val="646E70"/>
                </a:solidFill>
                <a:latin typeface="Aptos"/>
              </a:rPr>
              <a:t> compare </a:t>
            </a:r>
            <a:r>
              <a:rPr sz="1100" b="0" i="0" dirty="0" err="1">
                <a:solidFill>
                  <a:srgbClr val="646E70"/>
                </a:solidFill>
                <a:latin typeface="Aptos"/>
              </a:rPr>
              <a:t>todos</a:t>
            </a:r>
            <a:r>
              <a:rPr sz="1100" b="0" i="0" dirty="0">
                <a:solidFill>
                  <a:srgbClr val="646E70"/>
                </a:solidFill>
                <a:latin typeface="Aptos"/>
              </a:rPr>
              <a:t> </a:t>
            </a:r>
            <a:r>
              <a:rPr sz="1100" b="0" i="0" dirty="0" err="1">
                <a:solidFill>
                  <a:srgbClr val="646E70"/>
                </a:solidFill>
                <a:latin typeface="Aptos"/>
              </a:rPr>
              <a:t>los</a:t>
            </a:r>
            <a:r>
              <a:rPr sz="1100" b="0" i="0" dirty="0">
                <a:solidFill>
                  <a:srgbClr val="646E70"/>
                </a:solidFill>
                <a:latin typeface="Aptos"/>
              </a:rPr>
              <a:t> </a:t>
            </a:r>
            <a:r>
              <a:rPr sz="1100" b="0" i="0" dirty="0" err="1">
                <a:solidFill>
                  <a:srgbClr val="646E70"/>
                </a:solidFill>
                <a:latin typeface="Aptos"/>
              </a:rPr>
              <a:t>equipos</a:t>
            </a:r>
            <a:r>
              <a:rPr sz="1100" b="0" i="0" dirty="0">
                <a:solidFill>
                  <a:srgbClr val="646E70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120</Words>
  <Application>Microsoft Office PowerPoint</Application>
  <PresentationFormat>Panorámica</PresentationFormat>
  <Paragraphs>27</Paragraphs>
  <Slides>7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8" baseType="lpstr">
      <vt:lpstr>Office Theme</vt:lpstr>
      <vt:lpstr>Hackathon Colombia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Odette Chams Anturi</dc:creator>
  <cp:keywords/>
  <dc:description>generated using python-pptx</dc:description>
  <cp:lastModifiedBy>CHAMS ANTURI ODETTE</cp:lastModifiedBy>
  <cp:revision>3</cp:revision>
  <dcterms:created xsi:type="dcterms:W3CDTF">2013-01-27T09:14:16Z</dcterms:created>
  <dcterms:modified xsi:type="dcterms:W3CDTF">2026-09-04T15:03:11Z</dcterms:modified>
  <cp:category/>
</cp:coreProperties>
</file>